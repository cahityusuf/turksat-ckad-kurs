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838AD8-4DD5-4379-930B-4DB855904E63}" v="148" dt="2026-02-09T21:35:30.3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9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31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20.png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34.png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43.png"/><Relationship Id="rId4" Type="http://schemas.openxmlformats.org/officeDocument/2006/relationships/image" Target="../media/image4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49.png"/><Relationship Id="rId4" Type="http://schemas.openxmlformats.org/officeDocument/2006/relationships/image" Target="../media/image2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25931"/>
            <a:ext cx="16256000" cy="914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76300" y="4267200"/>
            <a:ext cx="33782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4572000" y="3111500"/>
            <a:ext cx="3378200" cy="1803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AutoShape 9"/>
          <p:cNvSpPr/>
          <p:nvPr/>
        </p:nvSpPr>
        <p:spPr>
          <a:xfrm>
            <a:off x="4572000" y="3111500"/>
            <a:ext cx="3378200" cy="1803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4572000" y="4267200"/>
            <a:ext cx="33782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AutoShape 13"/>
          <p:cNvSpPr/>
          <p:nvPr/>
        </p:nvSpPr>
        <p:spPr>
          <a:xfrm>
            <a:off x="8280400" y="4267200"/>
            <a:ext cx="33782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6" name="AutoShape 16"/>
          <p:cNvSpPr/>
          <p:nvPr/>
        </p:nvSpPr>
        <p:spPr>
          <a:xfrm>
            <a:off x="11976100" y="4267200"/>
            <a:ext cx="33782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7" name="AutoShape 17"/>
          <p:cNvSpPr/>
          <p:nvPr/>
        </p:nvSpPr>
        <p:spPr>
          <a:xfrm>
            <a:off x="876300" y="5435600"/>
            <a:ext cx="14490700" cy="3251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3" name="AutoShape 23"/>
          <p:cNvSpPr/>
          <p:nvPr/>
        </p:nvSpPr>
        <p:spPr>
          <a:xfrm>
            <a:off x="8280400" y="7645400"/>
            <a:ext cx="70866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0" name="TextBox 30"/>
          <p:cNvSpPr txBox="1"/>
          <p:nvPr/>
        </p:nvSpPr>
        <p:spPr>
          <a:xfrm>
            <a:off x="876300" y="444500"/>
            <a:ext cx="7239000" cy="965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60000"/>
              </a:lnSpc>
              <a:defRPr/>
            </a:pPr>
            <a:r>
              <a:rPr lang="en-US" sz="3100" b="1" dirty="0">
                <a:solidFill>
                  <a:srgbClr val="000000"/>
                </a:solidFill>
                <a:latin typeface="Poppins"/>
              </a:rPr>
              <a:t>Kubernetes </a:t>
            </a:r>
            <a:r>
              <a:rPr lang="en-US" sz="3100" b="1" dirty="0" err="1">
                <a:solidFill>
                  <a:srgbClr val="000000"/>
                </a:solidFill>
                <a:latin typeface="Poppins"/>
              </a:rPr>
              <a:t>Eğitim</a:t>
            </a:r>
            <a:r>
              <a:rPr lang="en-US" sz="3100" b="1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sz="3100" b="1" dirty="0" err="1">
                <a:solidFill>
                  <a:srgbClr val="000000"/>
                </a:solidFill>
                <a:latin typeface="Poppins"/>
              </a:rPr>
              <a:t>Kursu</a:t>
            </a:r>
            <a:endParaRPr lang="en-US" sz="1100" dirty="0" err="1"/>
          </a:p>
        </p:txBody>
      </p:sp>
      <p:sp>
        <p:nvSpPr>
          <p:cNvPr id="31" name="TextBox 31"/>
          <p:cNvSpPr txBox="1"/>
          <p:nvPr/>
        </p:nvSpPr>
        <p:spPr>
          <a:xfrm>
            <a:off x="6399652" y="5304449"/>
            <a:ext cx="33782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 dirty="0" err="1">
                <a:solidFill>
                  <a:srgbClr val="000000"/>
                </a:solidFill>
                <a:latin typeface="Poppins"/>
              </a:rPr>
              <a:t>Kubestronaut</a:t>
            </a:r>
            <a:endParaRPr lang="en-US" sz="1100" dirty="0" err="1"/>
          </a:p>
        </p:txBody>
      </p:sp>
      <p:sp>
        <p:nvSpPr>
          <p:cNvPr id="32" name="TextBox 32"/>
          <p:cNvSpPr txBox="1"/>
          <p:nvPr/>
        </p:nvSpPr>
        <p:spPr>
          <a:xfrm>
            <a:off x="1162043" y="8092057"/>
            <a:ext cx="2401277" cy="188221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CKAD</a:t>
            </a:r>
            <a:endParaRPr lang="en-US" sz="1100" dirty="0"/>
          </a:p>
        </p:txBody>
      </p:sp>
      <p:sp>
        <p:nvSpPr>
          <p:cNvPr id="33" name="TextBox 33"/>
          <p:cNvSpPr txBox="1"/>
          <p:nvPr/>
        </p:nvSpPr>
        <p:spPr>
          <a:xfrm>
            <a:off x="3522078" y="8013963"/>
            <a:ext cx="2896252" cy="26637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CKA</a:t>
            </a:r>
            <a:endParaRPr lang="en-US" sz="1100" dirty="0"/>
          </a:p>
        </p:txBody>
      </p:sp>
      <p:sp>
        <p:nvSpPr>
          <p:cNvPr id="34" name="TextBox 34"/>
          <p:cNvSpPr txBox="1"/>
          <p:nvPr/>
        </p:nvSpPr>
        <p:spPr>
          <a:xfrm>
            <a:off x="5947089" y="8014263"/>
            <a:ext cx="33782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CKS</a:t>
            </a:r>
            <a:endParaRPr lang="en-US" sz="1100" dirty="0"/>
          </a:p>
        </p:txBody>
      </p:sp>
      <p:sp>
        <p:nvSpPr>
          <p:cNvPr id="35" name="TextBox 35"/>
          <p:cNvSpPr txBox="1"/>
          <p:nvPr/>
        </p:nvSpPr>
        <p:spPr>
          <a:xfrm>
            <a:off x="11469207" y="7995472"/>
            <a:ext cx="37719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KCNA</a:t>
            </a:r>
            <a:endParaRPr lang="en-US" sz="1100" dirty="0"/>
          </a:p>
        </p:txBody>
      </p:sp>
      <p:sp>
        <p:nvSpPr>
          <p:cNvPr id="36" name="TextBox 36"/>
          <p:cNvSpPr txBox="1"/>
          <p:nvPr/>
        </p:nvSpPr>
        <p:spPr>
          <a:xfrm>
            <a:off x="9265786" y="7995592"/>
            <a:ext cx="2482362" cy="29242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KCSA</a:t>
            </a:r>
            <a:endParaRPr lang="en-US" sz="1100" dirty="0"/>
          </a:p>
        </p:txBody>
      </p:sp>
      <p:sp>
        <p:nvSpPr>
          <p:cNvPr id="37" name="TextBox 37"/>
          <p:cNvSpPr txBox="1"/>
          <p:nvPr/>
        </p:nvSpPr>
        <p:spPr>
          <a:xfrm>
            <a:off x="876300" y="1587500"/>
            <a:ext cx="72390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Cluster Mimarisi, Temel Bileşenler ve 27 Konu ile Pratik Uygulamalar - Pod'dan Helm'e Kapsamlı Kubernetes Öğrenimi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889266" y="2631556"/>
            <a:ext cx="72390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 dirty="0">
                <a:solidFill>
                  <a:srgbClr val="000000"/>
                </a:solidFill>
                <a:latin typeface="Poppins"/>
              </a:rPr>
              <a:t>Cahit Yusuf KAFADAR</a:t>
            </a:r>
            <a:endParaRPr lang="en-US" sz="1100" dirty="0"/>
          </a:p>
        </p:txBody>
      </p:sp>
      <p:sp>
        <p:nvSpPr>
          <p:cNvPr id="39" name="TextBox 39"/>
          <p:cNvSpPr txBox="1"/>
          <p:nvPr/>
        </p:nvSpPr>
        <p:spPr>
          <a:xfrm>
            <a:off x="889266" y="2936356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000" b="1" dirty="0">
                <a:solidFill>
                  <a:srgbClr val="000000"/>
                </a:solidFill>
                <a:latin typeface="Poppins"/>
              </a:rPr>
              <a:t>Cloud Solution Architect</a:t>
            </a:r>
            <a:endParaRPr lang="en-US" sz="1100" dirty="0"/>
          </a:p>
        </p:txBody>
      </p:sp>
      <p:pic>
        <p:nvPicPr>
          <p:cNvPr id="40" name="Resim 39" descr="simge, sembol, logo, grafik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A98882A-C525-05C8-BBBD-6626107DE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124" y="3199098"/>
            <a:ext cx="2222500" cy="2079218"/>
          </a:xfrm>
          <a:prstGeom prst="rect">
            <a:avLst/>
          </a:prstGeom>
        </p:spPr>
      </p:pic>
      <p:pic>
        <p:nvPicPr>
          <p:cNvPr id="41" name="Resim 40" descr="yazı tipi, logo, grafik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9B29312-8305-6432-9411-6A661E62E3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2108" y="5831059"/>
            <a:ext cx="1909885" cy="1988038"/>
          </a:xfrm>
          <a:prstGeom prst="rect">
            <a:avLst/>
          </a:prstGeom>
        </p:spPr>
      </p:pic>
      <p:pic>
        <p:nvPicPr>
          <p:cNvPr id="42" name="Resim 41" descr="metin, yazı tipi, grafik, kırpıntı çizi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292208D-B91B-3434-87E2-3F817928DF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1636" y="5937172"/>
            <a:ext cx="2005948" cy="1836616"/>
          </a:xfrm>
          <a:prstGeom prst="rect">
            <a:avLst/>
          </a:prstGeom>
        </p:spPr>
      </p:pic>
      <p:pic>
        <p:nvPicPr>
          <p:cNvPr id="43" name="Resim 42" descr="logo, meneviş mavisi, simge, sembol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302CCDB-2248-A507-4E67-B9C097F387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8492" y="6077642"/>
            <a:ext cx="1610295" cy="1571219"/>
          </a:xfrm>
          <a:prstGeom prst="rect">
            <a:avLst/>
          </a:prstGeom>
        </p:spPr>
      </p:pic>
      <p:pic>
        <p:nvPicPr>
          <p:cNvPr id="44" name="Resim 43" descr="metin, yazı tipi, meneviş mavisi, simge, sembol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3E4C46E-1069-B5CC-A5D3-2C58EBF6E4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2851" y="5986705"/>
            <a:ext cx="1701475" cy="1662398"/>
          </a:xfrm>
          <a:prstGeom prst="rect">
            <a:avLst/>
          </a:prstGeom>
        </p:spPr>
      </p:pic>
      <p:pic>
        <p:nvPicPr>
          <p:cNvPr id="45" name="Resim 44" descr="metin, yazı tipi, logo, meneviş mavis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1323A0E-F6B4-5346-07EE-16B10B58A7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82723" y="5688496"/>
            <a:ext cx="2027116" cy="2131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527300"/>
            <a:ext cx="14490700" cy="28702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5" name="AutoShape 5"/>
          <p:cNvSpPr/>
          <p:nvPr/>
        </p:nvSpPr>
        <p:spPr>
          <a:xfrm>
            <a:off x="889000" y="2540000"/>
            <a:ext cx="8153400" cy="4699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6" name="AutoShape 6"/>
          <p:cNvSpPr/>
          <p:nvPr/>
        </p:nvSpPr>
        <p:spPr>
          <a:xfrm>
            <a:off x="9055100" y="2540000"/>
            <a:ext cx="2184400" cy="4699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11252200" y="2540000"/>
            <a:ext cx="4102100" cy="4699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8" name="AutoShape 8"/>
          <p:cNvSpPr/>
          <p:nvPr/>
        </p:nvSpPr>
        <p:spPr>
          <a:xfrm>
            <a:off x="889000" y="3009900"/>
            <a:ext cx="8153400" cy="469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AutoShape 9"/>
          <p:cNvSpPr/>
          <p:nvPr/>
        </p:nvSpPr>
        <p:spPr>
          <a:xfrm>
            <a:off x="9055100" y="3009900"/>
            <a:ext cx="2184400" cy="469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0" name="AutoShape 10"/>
          <p:cNvSpPr/>
          <p:nvPr/>
        </p:nvSpPr>
        <p:spPr>
          <a:xfrm>
            <a:off x="11252200" y="3009900"/>
            <a:ext cx="4102100" cy="469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889000" y="3479800"/>
            <a:ext cx="8153400" cy="469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2" name="AutoShape 12"/>
          <p:cNvSpPr/>
          <p:nvPr/>
        </p:nvSpPr>
        <p:spPr>
          <a:xfrm>
            <a:off x="9055100" y="3479800"/>
            <a:ext cx="2184400" cy="469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11252200" y="3479800"/>
            <a:ext cx="4102100" cy="469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4" name="AutoShape 14"/>
          <p:cNvSpPr/>
          <p:nvPr/>
        </p:nvSpPr>
        <p:spPr>
          <a:xfrm>
            <a:off x="889000" y="3962400"/>
            <a:ext cx="8153400" cy="469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5" name="AutoShape 15"/>
          <p:cNvSpPr/>
          <p:nvPr/>
        </p:nvSpPr>
        <p:spPr>
          <a:xfrm>
            <a:off x="9055100" y="3962400"/>
            <a:ext cx="2184400" cy="469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6" name="AutoShape 16"/>
          <p:cNvSpPr/>
          <p:nvPr/>
        </p:nvSpPr>
        <p:spPr>
          <a:xfrm>
            <a:off x="11252200" y="3962400"/>
            <a:ext cx="4102100" cy="469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7" name="AutoShape 17"/>
          <p:cNvSpPr/>
          <p:nvPr/>
        </p:nvSpPr>
        <p:spPr>
          <a:xfrm>
            <a:off x="889000" y="4432300"/>
            <a:ext cx="8153400" cy="469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8" name="AutoShape 18"/>
          <p:cNvSpPr/>
          <p:nvPr/>
        </p:nvSpPr>
        <p:spPr>
          <a:xfrm>
            <a:off x="9055100" y="4432300"/>
            <a:ext cx="2184400" cy="469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9" name="AutoShape 19"/>
          <p:cNvSpPr/>
          <p:nvPr/>
        </p:nvSpPr>
        <p:spPr>
          <a:xfrm>
            <a:off x="11252200" y="4432300"/>
            <a:ext cx="4102100" cy="469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20" name="AutoShape 20"/>
          <p:cNvSpPr/>
          <p:nvPr/>
        </p:nvSpPr>
        <p:spPr>
          <a:xfrm>
            <a:off x="889000" y="4914900"/>
            <a:ext cx="8153400" cy="469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21" name="AutoShape 21"/>
          <p:cNvSpPr/>
          <p:nvPr/>
        </p:nvSpPr>
        <p:spPr>
          <a:xfrm>
            <a:off x="9055100" y="4914900"/>
            <a:ext cx="2184400" cy="469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22" name="AutoShape 22"/>
          <p:cNvSpPr/>
          <p:nvPr/>
        </p:nvSpPr>
        <p:spPr>
          <a:xfrm>
            <a:off x="11252200" y="4914900"/>
            <a:ext cx="4102100" cy="469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76300" y="584200"/>
            <a:ext cx="144907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300" b="1">
                <a:solidFill>
                  <a:srgbClr val="000000"/>
                </a:solidFill>
                <a:latin typeface="Poppins"/>
              </a:rPr>
              <a:t>Sınav Ağırlıkları - Zaman Planlaması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76300" y="1892300"/>
            <a:ext cx="14490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000000"/>
                </a:solidFill>
                <a:latin typeface="Poppins"/>
              </a:rPr>
              <a:t>Pratik zaman yönetimi için rehber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76300" y="6197600"/>
            <a:ext cx="14490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000000"/>
                </a:solidFill>
                <a:latin typeface="Poppins"/>
              </a:rPr>
              <a:t>Resmi Kaynaklar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876300" y="1333500"/>
            <a:ext cx="144907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2 saatlik sınav üzerinden yaklaşık zaman dağılımı (ağırlık × 120 dakika)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977900" y="2616200"/>
            <a:ext cx="79756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Alan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9144000" y="2616200"/>
            <a:ext cx="20066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Ağırlık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1341100" y="2616200"/>
            <a:ext cx="39116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Yaklaşık Süre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977900" y="3086100"/>
            <a:ext cx="79756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Application Design and Build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9144000" y="3086100"/>
            <a:ext cx="20066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20%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11341100" y="3086100"/>
            <a:ext cx="39116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24 dakika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977900" y="3568700"/>
            <a:ext cx="79756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Application Deployment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9144000" y="3568700"/>
            <a:ext cx="20066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20%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11341100" y="3568700"/>
            <a:ext cx="39116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24 dakika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977900" y="4038600"/>
            <a:ext cx="79756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Observability &amp; Maintenance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9144000" y="4038600"/>
            <a:ext cx="20066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15%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11341100" y="4038600"/>
            <a:ext cx="39116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18 dakika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977900" y="4508500"/>
            <a:ext cx="79756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Env, Config &amp; Security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9144000" y="4508500"/>
            <a:ext cx="20066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25%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11341100" y="4508500"/>
            <a:ext cx="39116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30 dakika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977900" y="4991100"/>
            <a:ext cx="79756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Services and Networking</a:t>
            </a:r>
            <a:endParaRPr lang="en-US" sz="1100"/>
          </a:p>
        </p:txBody>
      </p:sp>
      <p:sp>
        <p:nvSpPr>
          <p:cNvPr id="43" name="TextBox 43"/>
          <p:cNvSpPr txBox="1"/>
          <p:nvPr/>
        </p:nvSpPr>
        <p:spPr>
          <a:xfrm>
            <a:off x="9144000" y="4991100"/>
            <a:ext cx="20066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20%</a:t>
            </a:r>
            <a:endParaRPr lang="en-US" sz="1100"/>
          </a:p>
        </p:txBody>
      </p:sp>
      <p:sp>
        <p:nvSpPr>
          <p:cNvPr id="44" name="TextBox 44"/>
          <p:cNvSpPr txBox="1"/>
          <p:nvPr/>
        </p:nvSpPr>
        <p:spPr>
          <a:xfrm>
            <a:off x="11341100" y="4991100"/>
            <a:ext cx="39116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24 dakika</a:t>
            </a:r>
            <a:endParaRPr lang="en-US" sz="1100"/>
          </a:p>
        </p:txBody>
      </p:sp>
      <p:sp>
        <p:nvSpPr>
          <p:cNvPr id="45" name="TextBox 45"/>
          <p:cNvSpPr txBox="1"/>
          <p:nvPr/>
        </p:nvSpPr>
        <p:spPr>
          <a:xfrm>
            <a:off x="876300" y="5638800"/>
            <a:ext cx="144907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Not: Görev zorluğu ve çözüm süresi değişkenlik gösterir, bu tablo yalnızca genel bir perspektif sunar</a:t>
            </a:r>
            <a:endParaRPr lang="en-US" sz="1100"/>
          </a:p>
        </p:txBody>
      </p:sp>
      <p:sp>
        <p:nvSpPr>
          <p:cNvPr id="46" name="TextBox 46"/>
          <p:cNvSpPr txBox="1"/>
          <p:nvPr/>
        </p:nvSpPr>
        <p:spPr>
          <a:xfrm>
            <a:off x="876300" y="7086600"/>
            <a:ext cx="45339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CNCF CKAD: www.cncf.io/training/certification/ckad/</a:t>
            </a: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6045200" y="7086600"/>
            <a:ext cx="43434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CNCF Curriculum: github.com/cncf/curriculum</a:t>
            </a:r>
            <a:endParaRPr lang="en-US" sz="1100"/>
          </a:p>
        </p:txBody>
      </p:sp>
      <p:sp>
        <p:nvSpPr>
          <p:cNvPr id="48" name="TextBox 48"/>
          <p:cNvSpPr txBox="1"/>
          <p:nvPr/>
        </p:nvSpPr>
        <p:spPr>
          <a:xfrm>
            <a:off x="11023600" y="7086600"/>
            <a:ext cx="4343400" cy="952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Exam Tips: docs.linuxfoundation.org/tc-docs/certification/tips-cka-and-ckad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333500"/>
            <a:ext cx="14490700" cy="7200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5" name="AutoShape 5"/>
          <p:cNvSpPr/>
          <p:nvPr/>
        </p:nvSpPr>
        <p:spPr>
          <a:xfrm>
            <a:off x="889000" y="1346200"/>
            <a:ext cx="3289300" cy="4699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6" name="AutoShape 6"/>
          <p:cNvSpPr/>
          <p:nvPr/>
        </p:nvSpPr>
        <p:spPr>
          <a:xfrm>
            <a:off x="4191000" y="1346200"/>
            <a:ext cx="3898900" cy="4699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8089900" y="1346200"/>
            <a:ext cx="3949700" cy="4699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8" name="AutoShape 8"/>
          <p:cNvSpPr/>
          <p:nvPr/>
        </p:nvSpPr>
        <p:spPr>
          <a:xfrm>
            <a:off x="12052300" y="1346200"/>
            <a:ext cx="3302000" cy="4699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AutoShape 9"/>
          <p:cNvSpPr/>
          <p:nvPr/>
        </p:nvSpPr>
        <p:spPr>
          <a:xfrm>
            <a:off x="889000" y="1828800"/>
            <a:ext cx="32893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0" name="AutoShape 10"/>
          <p:cNvSpPr/>
          <p:nvPr/>
        </p:nvSpPr>
        <p:spPr>
          <a:xfrm>
            <a:off x="4191000" y="1828800"/>
            <a:ext cx="38989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8089900" y="1828800"/>
            <a:ext cx="39497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2" name="AutoShape 12"/>
          <p:cNvSpPr/>
          <p:nvPr/>
        </p:nvSpPr>
        <p:spPr>
          <a:xfrm>
            <a:off x="12052300" y="1828800"/>
            <a:ext cx="330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889000" y="2781300"/>
            <a:ext cx="32893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4" name="AutoShape 14"/>
          <p:cNvSpPr/>
          <p:nvPr/>
        </p:nvSpPr>
        <p:spPr>
          <a:xfrm>
            <a:off x="4191000" y="2781300"/>
            <a:ext cx="38989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5" name="AutoShape 15"/>
          <p:cNvSpPr/>
          <p:nvPr/>
        </p:nvSpPr>
        <p:spPr>
          <a:xfrm>
            <a:off x="8089900" y="2781300"/>
            <a:ext cx="39497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6" name="AutoShape 16"/>
          <p:cNvSpPr/>
          <p:nvPr/>
        </p:nvSpPr>
        <p:spPr>
          <a:xfrm>
            <a:off x="12052300" y="2781300"/>
            <a:ext cx="330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7" name="AutoShape 17"/>
          <p:cNvSpPr/>
          <p:nvPr/>
        </p:nvSpPr>
        <p:spPr>
          <a:xfrm>
            <a:off x="889000" y="3746500"/>
            <a:ext cx="32893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8" name="AutoShape 18"/>
          <p:cNvSpPr/>
          <p:nvPr/>
        </p:nvSpPr>
        <p:spPr>
          <a:xfrm>
            <a:off x="4191000" y="3746500"/>
            <a:ext cx="38989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9" name="AutoShape 19"/>
          <p:cNvSpPr/>
          <p:nvPr/>
        </p:nvSpPr>
        <p:spPr>
          <a:xfrm>
            <a:off x="8089900" y="3746500"/>
            <a:ext cx="39497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20" name="AutoShape 20"/>
          <p:cNvSpPr/>
          <p:nvPr/>
        </p:nvSpPr>
        <p:spPr>
          <a:xfrm>
            <a:off x="12052300" y="3746500"/>
            <a:ext cx="330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21" name="AutoShape 21"/>
          <p:cNvSpPr/>
          <p:nvPr/>
        </p:nvSpPr>
        <p:spPr>
          <a:xfrm>
            <a:off x="889000" y="4699000"/>
            <a:ext cx="32893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22" name="AutoShape 22"/>
          <p:cNvSpPr/>
          <p:nvPr/>
        </p:nvSpPr>
        <p:spPr>
          <a:xfrm>
            <a:off x="4191000" y="4699000"/>
            <a:ext cx="38989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23" name="AutoShape 23"/>
          <p:cNvSpPr/>
          <p:nvPr/>
        </p:nvSpPr>
        <p:spPr>
          <a:xfrm>
            <a:off x="8089900" y="4699000"/>
            <a:ext cx="39497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24" name="AutoShape 24"/>
          <p:cNvSpPr/>
          <p:nvPr/>
        </p:nvSpPr>
        <p:spPr>
          <a:xfrm>
            <a:off x="12052300" y="4699000"/>
            <a:ext cx="330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25" name="AutoShape 25"/>
          <p:cNvSpPr/>
          <p:nvPr/>
        </p:nvSpPr>
        <p:spPr>
          <a:xfrm>
            <a:off x="889000" y="5664200"/>
            <a:ext cx="32893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26" name="AutoShape 26"/>
          <p:cNvSpPr/>
          <p:nvPr/>
        </p:nvSpPr>
        <p:spPr>
          <a:xfrm>
            <a:off x="4191000" y="5664200"/>
            <a:ext cx="38989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27" name="AutoShape 27"/>
          <p:cNvSpPr/>
          <p:nvPr/>
        </p:nvSpPr>
        <p:spPr>
          <a:xfrm>
            <a:off x="8089900" y="5664200"/>
            <a:ext cx="39497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28" name="AutoShape 28"/>
          <p:cNvSpPr/>
          <p:nvPr/>
        </p:nvSpPr>
        <p:spPr>
          <a:xfrm>
            <a:off x="12052300" y="5664200"/>
            <a:ext cx="330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29" name="AutoShape 29"/>
          <p:cNvSpPr/>
          <p:nvPr/>
        </p:nvSpPr>
        <p:spPr>
          <a:xfrm>
            <a:off x="889000" y="6616700"/>
            <a:ext cx="32893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30" name="AutoShape 30"/>
          <p:cNvSpPr/>
          <p:nvPr/>
        </p:nvSpPr>
        <p:spPr>
          <a:xfrm>
            <a:off x="4191000" y="6616700"/>
            <a:ext cx="38989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31" name="AutoShape 31"/>
          <p:cNvSpPr/>
          <p:nvPr/>
        </p:nvSpPr>
        <p:spPr>
          <a:xfrm>
            <a:off x="8089900" y="6616700"/>
            <a:ext cx="39497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32" name="AutoShape 32"/>
          <p:cNvSpPr/>
          <p:nvPr/>
        </p:nvSpPr>
        <p:spPr>
          <a:xfrm>
            <a:off x="12052300" y="6616700"/>
            <a:ext cx="330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33" name="AutoShape 33"/>
          <p:cNvSpPr/>
          <p:nvPr/>
        </p:nvSpPr>
        <p:spPr>
          <a:xfrm>
            <a:off x="889000" y="7581900"/>
            <a:ext cx="32893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34" name="AutoShape 34"/>
          <p:cNvSpPr/>
          <p:nvPr/>
        </p:nvSpPr>
        <p:spPr>
          <a:xfrm>
            <a:off x="4191000" y="7581900"/>
            <a:ext cx="38989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35" name="AutoShape 35"/>
          <p:cNvSpPr/>
          <p:nvPr/>
        </p:nvSpPr>
        <p:spPr>
          <a:xfrm>
            <a:off x="8089900" y="7581900"/>
            <a:ext cx="39497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36" name="AutoShape 36"/>
          <p:cNvSpPr/>
          <p:nvPr/>
        </p:nvSpPr>
        <p:spPr>
          <a:xfrm>
            <a:off x="12052300" y="7581900"/>
            <a:ext cx="3302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76300" y="584200"/>
            <a:ext cx="144907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300" b="1">
                <a:solidFill>
                  <a:srgbClr val="000000"/>
                </a:solidFill>
                <a:latin typeface="Poppins"/>
              </a:rPr>
              <a:t>Eğitim İçeriği - 27 Temel Konu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977900" y="1905000"/>
            <a:ext cx="311150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1. Kubernetes Mimarisi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4279900" y="1905000"/>
            <a:ext cx="37084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2. Pod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8178800" y="1905000"/>
            <a:ext cx="37719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3. ReplicaSet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12141200" y="1905000"/>
            <a:ext cx="31115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4. Deployment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977900" y="2857500"/>
            <a:ext cx="31115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5. Namespace</a:t>
            </a:r>
            <a:endParaRPr lang="en-US" sz="1100"/>
          </a:p>
        </p:txBody>
      </p:sp>
      <p:sp>
        <p:nvSpPr>
          <p:cNvPr id="43" name="TextBox 43"/>
          <p:cNvSpPr txBox="1"/>
          <p:nvPr/>
        </p:nvSpPr>
        <p:spPr>
          <a:xfrm>
            <a:off x="4279900" y="2857500"/>
            <a:ext cx="370840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6. Commands &amp; Arguments</a:t>
            </a:r>
            <a:endParaRPr lang="en-US" sz="1100"/>
          </a:p>
        </p:txBody>
      </p:sp>
      <p:sp>
        <p:nvSpPr>
          <p:cNvPr id="44" name="TextBox 44"/>
          <p:cNvSpPr txBox="1"/>
          <p:nvPr/>
        </p:nvSpPr>
        <p:spPr>
          <a:xfrm>
            <a:off x="8178800" y="2857500"/>
            <a:ext cx="37719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7. ConfigMap</a:t>
            </a:r>
            <a:endParaRPr lang="en-US" sz="1100"/>
          </a:p>
        </p:txBody>
      </p:sp>
      <p:sp>
        <p:nvSpPr>
          <p:cNvPr id="45" name="TextBox 45"/>
          <p:cNvSpPr txBox="1"/>
          <p:nvPr/>
        </p:nvSpPr>
        <p:spPr>
          <a:xfrm>
            <a:off x="12141200" y="2857500"/>
            <a:ext cx="31115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8. Secrets</a:t>
            </a:r>
            <a:endParaRPr lang="en-US" sz="1100"/>
          </a:p>
        </p:txBody>
      </p:sp>
      <p:sp>
        <p:nvSpPr>
          <p:cNvPr id="46" name="TextBox 46"/>
          <p:cNvSpPr txBox="1"/>
          <p:nvPr/>
        </p:nvSpPr>
        <p:spPr>
          <a:xfrm>
            <a:off x="977900" y="3822700"/>
            <a:ext cx="311150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9. Security Contexts</a:t>
            </a: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4279900" y="3822700"/>
            <a:ext cx="37084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10. Resource Limits</a:t>
            </a:r>
            <a:endParaRPr lang="en-US" sz="1100"/>
          </a:p>
        </p:txBody>
      </p:sp>
      <p:sp>
        <p:nvSpPr>
          <p:cNvPr id="48" name="TextBox 48"/>
          <p:cNvSpPr txBox="1"/>
          <p:nvPr/>
        </p:nvSpPr>
        <p:spPr>
          <a:xfrm>
            <a:off x="8178800" y="3822700"/>
            <a:ext cx="37719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11. Service Account</a:t>
            </a:r>
            <a:endParaRPr lang="en-US" sz="1100"/>
          </a:p>
        </p:txBody>
      </p:sp>
      <p:sp>
        <p:nvSpPr>
          <p:cNvPr id="49" name="TextBox 49"/>
          <p:cNvSpPr txBox="1"/>
          <p:nvPr/>
        </p:nvSpPr>
        <p:spPr>
          <a:xfrm>
            <a:off x="12141200" y="3822700"/>
            <a:ext cx="311150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12. Taints &amp; Tolerations</a:t>
            </a:r>
            <a:endParaRPr lang="en-US" sz="1100"/>
          </a:p>
        </p:txBody>
      </p:sp>
      <p:sp>
        <p:nvSpPr>
          <p:cNvPr id="50" name="TextBox 50"/>
          <p:cNvSpPr txBox="1"/>
          <p:nvPr/>
        </p:nvSpPr>
        <p:spPr>
          <a:xfrm>
            <a:off x="977900" y="4775200"/>
            <a:ext cx="31115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13. Node Affinity</a:t>
            </a:r>
            <a:endParaRPr lang="en-US" sz="1100"/>
          </a:p>
        </p:txBody>
      </p:sp>
      <p:sp>
        <p:nvSpPr>
          <p:cNvPr id="51" name="TextBox 51"/>
          <p:cNvSpPr txBox="1"/>
          <p:nvPr/>
        </p:nvSpPr>
        <p:spPr>
          <a:xfrm>
            <a:off x="4279900" y="4775200"/>
            <a:ext cx="370840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14. Multi-Container Pods</a:t>
            </a:r>
            <a:endParaRPr lang="en-US" sz="1100"/>
          </a:p>
        </p:txBody>
      </p:sp>
      <p:sp>
        <p:nvSpPr>
          <p:cNvPr id="52" name="TextBox 52"/>
          <p:cNvSpPr txBox="1"/>
          <p:nvPr/>
        </p:nvSpPr>
        <p:spPr>
          <a:xfrm>
            <a:off x="8178800" y="4775200"/>
            <a:ext cx="37719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15. Readiness Probes</a:t>
            </a:r>
            <a:endParaRPr lang="en-US" sz="1100"/>
          </a:p>
        </p:txBody>
      </p:sp>
      <p:sp>
        <p:nvSpPr>
          <p:cNvPr id="53" name="TextBox 53"/>
          <p:cNvSpPr txBox="1"/>
          <p:nvPr/>
        </p:nvSpPr>
        <p:spPr>
          <a:xfrm>
            <a:off x="12141200" y="4775200"/>
            <a:ext cx="31115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16. Logging</a:t>
            </a:r>
            <a:endParaRPr lang="en-US" sz="1100"/>
          </a:p>
        </p:txBody>
      </p:sp>
      <p:sp>
        <p:nvSpPr>
          <p:cNvPr id="54" name="TextBox 54"/>
          <p:cNvSpPr txBox="1"/>
          <p:nvPr/>
        </p:nvSpPr>
        <p:spPr>
          <a:xfrm>
            <a:off x="977900" y="5740400"/>
            <a:ext cx="31115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17. Init Containers</a:t>
            </a:r>
            <a:endParaRPr lang="en-US" sz="1100"/>
          </a:p>
        </p:txBody>
      </p:sp>
      <p:sp>
        <p:nvSpPr>
          <p:cNvPr id="55" name="TextBox 55"/>
          <p:cNvSpPr txBox="1"/>
          <p:nvPr/>
        </p:nvSpPr>
        <p:spPr>
          <a:xfrm>
            <a:off x="4279900" y="5740400"/>
            <a:ext cx="37084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18. Labels &amp; Selectors</a:t>
            </a:r>
            <a:endParaRPr lang="en-US" sz="1100"/>
          </a:p>
        </p:txBody>
      </p:sp>
      <p:sp>
        <p:nvSpPr>
          <p:cNvPr id="56" name="TextBox 56"/>
          <p:cNvSpPr txBox="1"/>
          <p:nvPr/>
        </p:nvSpPr>
        <p:spPr>
          <a:xfrm>
            <a:off x="8178800" y="5740400"/>
            <a:ext cx="377190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19. Rolling Update &amp; Rollback</a:t>
            </a:r>
            <a:endParaRPr lang="en-US" sz="1100"/>
          </a:p>
        </p:txBody>
      </p:sp>
      <p:sp>
        <p:nvSpPr>
          <p:cNvPr id="57" name="TextBox 57"/>
          <p:cNvSpPr txBox="1"/>
          <p:nvPr/>
        </p:nvSpPr>
        <p:spPr>
          <a:xfrm>
            <a:off x="12141200" y="5740400"/>
            <a:ext cx="311150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20. Jobs &amp; CronJobs</a:t>
            </a:r>
            <a:endParaRPr lang="en-US" sz="1100"/>
          </a:p>
        </p:txBody>
      </p:sp>
      <p:sp>
        <p:nvSpPr>
          <p:cNvPr id="58" name="TextBox 58"/>
          <p:cNvSpPr txBox="1"/>
          <p:nvPr/>
        </p:nvSpPr>
        <p:spPr>
          <a:xfrm>
            <a:off x="977900" y="6692900"/>
            <a:ext cx="311150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21. Kubernetes Service</a:t>
            </a:r>
            <a:endParaRPr lang="en-US" sz="1100"/>
          </a:p>
        </p:txBody>
      </p:sp>
      <p:sp>
        <p:nvSpPr>
          <p:cNvPr id="59" name="TextBox 59"/>
          <p:cNvSpPr txBox="1"/>
          <p:nvPr/>
        </p:nvSpPr>
        <p:spPr>
          <a:xfrm>
            <a:off x="4279900" y="6692900"/>
            <a:ext cx="37084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22. Network Policies</a:t>
            </a:r>
            <a:endParaRPr lang="en-US" sz="1100"/>
          </a:p>
        </p:txBody>
      </p:sp>
      <p:sp>
        <p:nvSpPr>
          <p:cNvPr id="60" name="TextBox 60"/>
          <p:cNvSpPr txBox="1"/>
          <p:nvPr/>
        </p:nvSpPr>
        <p:spPr>
          <a:xfrm>
            <a:off x="8178800" y="6692900"/>
            <a:ext cx="37719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23. Ingress Networking</a:t>
            </a:r>
            <a:endParaRPr lang="en-US" sz="1100"/>
          </a:p>
        </p:txBody>
      </p:sp>
      <p:sp>
        <p:nvSpPr>
          <p:cNvPr id="61" name="TextBox 61"/>
          <p:cNvSpPr txBox="1"/>
          <p:nvPr/>
        </p:nvSpPr>
        <p:spPr>
          <a:xfrm>
            <a:off x="12141200" y="6692900"/>
            <a:ext cx="31115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24. Gateway API</a:t>
            </a:r>
            <a:endParaRPr lang="en-US" sz="1100"/>
          </a:p>
        </p:txBody>
      </p:sp>
      <p:sp>
        <p:nvSpPr>
          <p:cNvPr id="62" name="TextBox 62"/>
          <p:cNvSpPr txBox="1"/>
          <p:nvPr/>
        </p:nvSpPr>
        <p:spPr>
          <a:xfrm>
            <a:off x="977900" y="7658100"/>
            <a:ext cx="311150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25. Persistent Volumes</a:t>
            </a:r>
            <a:endParaRPr lang="en-US" sz="1100"/>
          </a:p>
        </p:txBody>
      </p:sp>
      <p:sp>
        <p:nvSpPr>
          <p:cNvPr id="63" name="TextBox 63"/>
          <p:cNvSpPr txBox="1"/>
          <p:nvPr/>
        </p:nvSpPr>
        <p:spPr>
          <a:xfrm>
            <a:off x="4279900" y="7658100"/>
            <a:ext cx="37084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26. Storage Class</a:t>
            </a:r>
            <a:endParaRPr lang="en-US" sz="1100"/>
          </a:p>
        </p:txBody>
      </p:sp>
      <p:sp>
        <p:nvSpPr>
          <p:cNvPr id="64" name="TextBox 64"/>
          <p:cNvSpPr txBox="1"/>
          <p:nvPr/>
        </p:nvSpPr>
        <p:spPr>
          <a:xfrm>
            <a:off x="8178800" y="7658100"/>
            <a:ext cx="37719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27. Helm &amp; Docker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083300" y="1498600"/>
            <a:ext cx="9283700" cy="7162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6083300" y="1498600"/>
            <a:ext cx="2921000" cy="47117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6464300" y="16764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8" name="AutoShape 8"/>
          <p:cNvSpPr/>
          <p:nvPr/>
        </p:nvSpPr>
        <p:spPr>
          <a:xfrm>
            <a:off x="9258300" y="1498600"/>
            <a:ext cx="2921000" cy="47117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AutoShape 9"/>
          <p:cNvSpPr/>
          <p:nvPr/>
        </p:nvSpPr>
        <p:spPr>
          <a:xfrm>
            <a:off x="9639300" y="16764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0" name="AutoShape 10"/>
          <p:cNvSpPr/>
          <p:nvPr/>
        </p:nvSpPr>
        <p:spPr>
          <a:xfrm>
            <a:off x="12433300" y="1498600"/>
            <a:ext cx="2921000" cy="47117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12827000" y="16764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2" name="AutoShape 12"/>
          <p:cNvSpPr/>
          <p:nvPr/>
        </p:nvSpPr>
        <p:spPr>
          <a:xfrm>
            <a:off x="6083300" y="6388100"/>
            <a:ext cx="9283700" cy="22733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6464300" y="65659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4" name="TextBox 14"/>
          <p:cNvSpPr txBox="1"/>
          <p:nvPr/>
        </p:nvSpPr>
        <p:spPr>
          <a:xfrm>
            <a:off x="6083300" y="469900"/>
            <a:ext cx="9283700" cy="825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000000"/>
                </a:solidFill>
                <a:latin typeface="Poppins"/>
              </a:rPr>
              <a:t>Kubernetes Nedir ve Neden Kullanılır?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350000" y="2374900"/>
            <a:ext cx="2387600" cy="927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Container orkestrasyon platformu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9525000" y="2374900"/>
            <a:ext cx="23876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Avantajlar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2700000" y="2374900"/>
            <a:ext cx="2387600" cy="622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Kullanım Senaryoları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350000" y="7264400"/>
            <a:ext cx="87503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CNCF Yönetimi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350000" y="3429000"/>
            <a:ext cx="2387600" cy="2590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Kubernetes, konteynerleştirilmiş uygulamaları dağıtmak, yönetmek ve koordine etmek için kullanılan açık kaynaklı bir orkestrasyon platformudur.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9525000" y="2806700"/>
            <a:ext cx="2387600" cy="2590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Otomatik dağıtım, otomatik ölçeklendirme, self-healing mekanizmaları ve yerleşik load balancing ile yüksek erişilebilirlik sağlar.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2700000" y="3124200"/>
            <a:ext cx="2387600" cy="2590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Mikroservis mimarileri, CI/CD pipeline'ları ve hybrid cloud ortamları gibi modern uygulama dağıtım senaryolarında yaygın olarak kullanılır.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350000" y="7696200"/>
            <a:ext cx="87503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Kubernetes, Google tarafından başlatıldı ve şu anda Cloud Native Computing Foundation (CNCF) tarafından yönetilen açık kaynak bir projedir.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854200"/>
            <a:ext cx="165100" cy="165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7100" y="1854200"/>
            <a:ext cx="165100" cy="1651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04800" y="1854200"/>
            <a:ext cx="165100" cy="1651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6743700"/>
            <a:ext cx="165100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476500"/>
            <a:ext cx="14490700" cy="5664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2476500"/>
            <a:ext cx="3619500" cy="5664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24765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4495800" y="2476500"/>
            <a:ext cx="3619500" cy="5664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4495800" y="24765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AutoShape 9"/>
          <p:cNvSpPr/>
          <p:nvPr/>
        </p:nvSpPr>
        <p:spPr>
          <a:xfrm>
            <a:off x="8115300" y="2476500"/>
            <a:ext cx="3619500" cy="5664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8115300" y="24765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1" name="AutoShape 11"/>
          <p:cNvSpPr/>
          <p:nvPr/>
        </p:nvSpPr>
        <p:spPr>
          <a:xfrm>
            <a:off x="11747500" y="2476500"/>
            <a:ext cx="3619500" cy="5664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2" name="AutoShape 12"/>
          <p:cNvSpPr/>
          <p:nvPr/>
        </p:nvSpPr>
        <p:spPr>
          <a:xfrm>
            <a:off x="11747500" y="24765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476500"/>
            <a:ext cx="3619500" cy="990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2476500"/>
            <a:ext cx="3619500" cy="990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2476500"/>
            <a:ext cx="3619500" cy="990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500" y="2476500"/>
            <a:ext cx="3619500" cy="9906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876300" y="977900"/>
            <a:ext cx="144907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Kubernetes Cluster Mimarisi - Control Plane ve Worker Node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76300" y="2832100"/>
            <a:ext cx="36195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1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30300" y="3784600"/>
            <a:ext cx="31115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Control Plane Bileşenleri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4495800" y="2832100"/>
            <a:ext cx="36195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2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4749800" y="3784600"/>
            <a:ext cx="31115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Worker Node Bileşenleri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115300" y="2832100"/>
            <a:ext cx="36195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3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369300" y="3784600"/>
            <a:ext cx="311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İletişim Akışı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1747500" y="2832100"/>
            <a:ext cx="36195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4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2001500" y="3784600"/>
            <a:ext cx="31115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Container Runtime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130300" y="4876800"/>
            <a:ext cx="3111500" cy="302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API Server (tüm isteklerin merkezi), etcd (cluster state veritabanı), Scheduler (pod yerleştirme), Controller Manager (istenen durum kontrolü)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4749800" y="4876800"/>
            <a:ext cx="31115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Kubelet (node agent), Kube-proxy (network proxy), Container Runtime (Docker/containerd)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8369300" y="4419600"/>
            <a:ext cx="31115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→ API Server → etcd → Scheduler → Kubelet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2001500" y="4876800"/>
            <a:ext cx="31115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Docker, containerd veya CRI-O üzerinde container çalıştırma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3937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Bölüm 1: Pod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48260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Kubernetes'in en küçük deployment birimi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794000"/>
            <a:ext cx="14490700" cy="5740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2794000"/>
            <a:ext cx="7112000" cy="57404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6" name="AutoShape 6"/>
          <p:cNvSpPr/>
          <p:nvPr/>
        </p:nvSpPr>
        <p:spPr>
          <a:xfrm>
            <a:off x="8242300" y="2794000"/>
            <a:ext cx="7112000" cy="57404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6300" y="584200"/>
            <a:ext cx="144907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300" b="1">
                <a:solidFill>
                  <a:srgbClr val="000000"/>
                </a:solidFill>
                <a:latin typeface="Poppins"/>
              </a:rPr>
              <a:t>Pod - YAML Konfigürasyonu ve kubectl Komutları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1143000" y="3022600"/>
            <a:ext cx="65786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000000"/>
                </a:solidFill>
                <a:latin typeface="Poppins"/>
              </a:rPr>
              <a:t>kubectl Komutları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509000" y="3022600"/>
            <a:ext cx="65786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000000"/>
                </a:solidFill>
                <a:latin typeface="Poppins"/>
              </a:rPr>
              <a:t>Olası Sorunlar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76300" y="1346200"/>
            <a:ext cx="144907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Örnek Pod YAML konfigürasyonu gösterimi aşağıdadır: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76300" y="1905000"/>
            <a:ext cx="144907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apiVersion: v1 kind: Pod metadata: name: nginx-pod labels: app: nginx spec: containers: - name: nginx image: nginx:latest ports: - containerPort: 80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397000" y="3581400"/>
            <a:ext cx="63246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kubectl create -f pod.yaml : Pod tanımlamasını oluşturur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397000" y="4394200"/>
            <a:ext cx="63246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kubectl get pods : Pod listesini ve durumunu gösterir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397000" y="5219700"/>
            <a:ext cx="63246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kubectl describe pod nginx-pod : Pod detaylı bilgi çıkarımı yapar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397000" y="6032500"/>
            <a:ext cx="63246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kubectl logs nginx-pod : Pod container loglarını görüntüler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397000" y="6858000"/>
            <a:ext cx="63246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kubectl exec -it nginx-pod -- /bin/sh : Pod içinde etkileşimli kabuk başlatır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397000" y="7670800"/>
            <a:ext cx="63246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kubectl delete pod nginx-pod : Belirtilen Podu siler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763000" y="3581400"/>
            <a:ext cx="63246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ImagePullBackOff : İlgili image depoda bulunamaz veya çekilemez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763000" y="4394200"/>
            <a:ext cx="63246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CrashLoopBackOff : Container sürekli çöküyor ve yeniden başlıyor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763000" y="5219700"/>
            <a:ext cx="63246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Pending : Pod, node kaynak yetersizliği veya scheduling problemi yaşıyor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16000" y="36322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016000" y="44450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016000" y="52705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016000" y="60833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016000" y="69088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016000" y="77216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8394700" y="36322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8394700" y="44450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8394700" y="5270500"/>
            <a:ext cx="241300" cy="20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6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3937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Bölüm 2: ReplicaSet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48260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Pod kopyalarının otomatik yönetimi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083300" y="1879600"/>
            <a:ext cx="9283700" cy="6642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6083300" y="1879600"/>
            <a:ext cx="2921000" cy="38989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6400800" y="21209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5163A9"/>
          </a:solidFill>
        </p:spPr>
      </p:sp>
      <p:sp>
        <p:nvSpPr>
          <p:cNvPr id="8" name="AutoShape 8"/>
          <p:cNvSpPr/>
          <p:nvPr/>
        </p:nvSpPr>
        <p:spPr>
          <a:xfrm>
            <a:off x="9258300" y="1879600"/>
            <a:ext cx="2921000" cy="38989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AutoShape 9"/>
          <p:cNvSpPr/>
          <p:nvPr/>
        </p:nvSpPr>
        <p:spPr>
          <a:xfrm>
            <a:off x="9575800" y="21209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5163A9"/>
          </a:solidFill>
        </p:spPr>
      </p:sp>
      <p:sp>
        <p:nvSpPr>
          <p:cNvPr id="10" name="AutoShape 10"/>
          <p:cNvSpPr/>
          <p:nvPr/>
        </p:nvSpPr>
        <p:spPr>
          <a:xfrm>
            <a:off x="12433300" y="1879600"/>
            <a:ext cx="2921000" cy="38989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12750800" y="21209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5163A9"/>
          </a:solidFill>
        </p:spPr>
      </p:sp>
      <p:sp>
        <p:nvSpPr>
          <p:cNvPr id="12" name="AutoShape 12"/>
          <p:cNvSpPr/>
          <p:nvPr/>
        </p:nvSpPr>
        <p:spPr>
          <a:xfrm>
            <a:off x="6083300" y="6007100"/>
            <a:ext cx="9283700" cy="25273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6400800" y="62357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5163A9"/>
          </a:solidFill>
        </p:spPr>
      </p:sp>
      <p:sp>
        <p:nvSpPr>
          <p:cNvPr id="14" name="TextBox 14"/>
          <p:cNvSpPr txBox="1"/>
          <p:nvPr/>
        </p:nvSpPr>
        <p:spPr>
          <a:xfrm>
            <a:off x="6083300" y="596900"/>
            <a:ext cx="9283700" cy="1041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400" b="1">
                <a:solidFill>
                  <a:srgbClr val="000000"/>
                </a:solidFill>
                <a:latin typeface="Poppins"/>
              </a:rPr>
              <a:t>ReplicaSet - Pod Kopyalarının Yönetimi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350000" y="2984500"/>
            <a:ext cx="23876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000000"/>
                </a:solidFill>
                <a:latin typeface="Poppins"/>
              </a:rPr>
              <a:t>ReplicaSet Amacı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9525000" y="2984500"/>
            <a:ext cx="23876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000000"/>
                </a:solidFill>
                <a:latin typeface="Poppins"/>
              </a:rPr>
              <a:t>Self-Healing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2700000" y="2984500"/>
            <a:ext cx="23876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000000"/>
                </a:solidFill>
                <a:latin typeface="Poppins"/>
              </a:rPr>
              <a:t>Selector Kullanımı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350000" y="7112000"/>
            <a:ext cx="87503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000000"/>
                </a:solidFill>
                <a:latin typeface="Poppins"/>
              </a:rPr>
              <a:t>Kullanım Senaryoları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350000" y="3924300"/>
            <a:ext cx="2387600" cy="162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Belirtilen sayıda pod kopyasının her zaman çalışmasını garantilemek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9525000" y="3924300"/>
            <a:ext cx="2387600" cy="162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Pod silindiğinde veya çöktüğünde otomatik olarak yeniden oluşturma özelliği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2700000" y="3924300"/>
            <a:ext cx="2387600" cy="162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Label'lara göre pod'ları izleme ve yönetme mekanizması sağlar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350000" y="7658100"/>
            <a:ext cx="87503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High availability, yük dağılımı ve hata toleransı gibi senaryolar için uygundur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2336800"/>
            <a:ext cx="215900" cy="2159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1700" y="2336800"/>
            <a:ext cx="215900" cy="215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66700" y="2336800"/>
            <a:ext cx="215900" cy="2159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000" y="6451600"/>
            <a:ext cx="215900" cy="215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552700"/>
            <a:ext cx="12700" cy="749300"/>
          </a:xfrm>
          <a:prstGeom prst="rect">
            <a:avLst/>
          </a:prstGeom>
          <a:solidFill>
            <a:srgbClr val="586BD7"/>
          </a:solidFill>
        </p:spPr>
      </p:sp>
      <p:sp>
        <p:nvSpPr>
          <p:cNvPr id="5" name="AutoShape 5"/>
          <p:cNvSpPr/>
          <p:nvPr/>
        </p:nvSpPr>
        <p:spPr>
          <a:xfrm>
            <a:off x="876300" y="3594100"/>
            <a:ext cx="14490700" cy="3873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3594100"/>
            <a:ext cx="7112000" cy="38735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8242300" y="3594100"/>
            <a:ext cx="7112000" cy="38735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76300" y="16637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ReplicaSet - YAML Yapısı ve kubectl Yönetimi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43000" y="38608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kubectl Komutları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509000" y="38608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Olası Sorunlar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30300" y="2552700"/>
            <a:ext cx="14236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apiVersion: apps/v1 kind: ReplicaSet metadata: name: nginx-rs spec: replicas: 3 selector: matchLabels: app: nginx template: metadata: labels: app: nginx spec: containers: - name: nginx image: nginx:latest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397000" y="45085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create -f replicaset.yaml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397000" y="50800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get rs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397000" y="56642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scale rs nginx-rs --replicas=5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397000" y="62484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describe rs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397000" y="68199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delete rs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63000" y="45085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Selector ve pod label uyuşmazlığı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763000" y="50800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Resource quota aşımı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763000" y="56642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Pod template değişiklikleri mevcut pod'ları etkilemez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016000" y="4559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16000" y="5143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016000" y="5727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016000" y="6299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016000" y="6883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394700" y="4559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8394700" y="5143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8394700" y="5727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3937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Bölüm 3: Deployment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48260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Declarative uygulama güncellemeleri ve sürüm yönetimi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76300" y="1384300"/>
            <a:ext cx="9283700" cy="7302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1384300"/>
            <a:ext cx="2921000" cy="50419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1282700" y="1562100"/>
            <a:ext cx="469900" cy="469900"/>
          </a:xfrm>
          <a:prstGeom prst="roundRect">
            <a:avLst>
              <a:gd name="adj" fmla="val 48648"/>
            </a:avLst>
          </a:prstGeom>
          <a:solidFill>
            <a:srgbClr val="5163A9"/>
          </a:solidFill>
        </p:spPr>
      </p:sp>
      <p:sp>
        <p:nvSpPr>
          <p:cNvPr id="8" name="AutoShape 8"/>
          <p:cNvSpPr/>
          <p:nvPr/>
        </p:nvSpPr>
        <p:spPr>
          <a:xfrm>
            <a:off x="4051300" y="1384300"/>
            <a:ext cx="2921000" cy="50419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AutoShape 9"/>
          <p:cNvSpPr/>
          <p:nvPr/>
        </p:nvSpPr>
        <p:spPr>
          <a:xfrm>
            <a:off x="4457700" y="1562100"/>
            <a:ext cx="469900" cy="469900"/>
          </a:xfrm>
          <a:prstGeom prst="roundRect">
            <a:avLst>
              <a:gd name="adj" fmla="val 48648"/>
            </a:avLst>
          </a:prstGeom>
          <a:solidFill>
            <a:srgbClr val="5163A9"/>
          </a:solidFill>
        </p:spPr>
      </p:sp>
      <p:sp>
        <p:nvSpPr>
          <p:cNvPr id="10" name="AutoShape 10"/>
          <p:cNvSpPr/>
          <p:nvPr/>
        </p:nvSpPr>
        <p:spPr>
          <a:xfrm>
            <a:off x="7239000" y="1384300"/>
            <a:ext cx="2921000" cy="50419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7645400" y="1562100"/>
            <a:ext cx="469900" cy="469900"/>
          </a:xfrm>
          <a:prstGeom prst="roundRect">
            <a:avLst>
              <a:gd name="adj" fmla="val 48648"/>
            </a:avLst>
          </a:prstGeom>
          <a:solidFill>
            <a:srgbClr val="5163A9"/>
          </a:solidFill>
        </p:spPr>
      </p:sp>
      <p:sp>
        <p:nvSpPr>
          <p:cNvPr id="12" name="AutoShape 12"/>
          <p:cNvSpPr/>
          <p:nvPr/>
        </p:nvSpPr>
        <p:spPr>
          <a:xfrm>
            <a:off x="876300" y="6591300"/>
            <a:ext cx="9283700" cy="20955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1282700" y="6756400"/>
            <a:ext cx="469900" cy="469900"/>
          </a:xfrm>
          <a:prstGeom prst="roundRect">
            <a:avLst>
              <a:gd name="adj" fmla="val 48648"/>
            </a:avLst>
          </a:prstGeom>
          <a:solidFill>
            <a:srgbClr val="5163A9"/>
          </a:solidFill>
        </p:spPr>
      </p:sp>
      <p:sp>
        <p:nvSpPr>
          <p:cNvPr id="14" name="TextBox 14"/>
          <p:cNvSpPr txBox="1"/>
          <p:nvPr/>
        </p:nvSpPr>
        <p:spPr>
          <a:xfrm>
            <a:off x="876300" y="431800"/>
            <a:ext cx="9283700" cy="762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000000"/>
                </a:solidFill>
                <a:latin typeface="Poppins"/>
              </a:rPr>
              <a:t>Deployment - Declarative Uygulama Güncellemeleri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43000" y="2197100"/>
            <a:ext cx="2387600" cy="57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Deployment Rolü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318000" y="2197100"/>
            <a:ext cx="23876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Avantajları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505700" y="2197100"/>
            <a:ext cx="2387600" cy="57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Kullanım Amacı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43000" y="7404100"/>
            <a:ext cx="87503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ReplicaSet Farkı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43000" y="2882900"/>
            <a:ext cx="2387600" cy="312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ReplicaSet üzerinde sürüm yönetimi sağlar ve rolling update ile kesintisiz güncelleme sürecini otomatikleştirir, mevcut pod'ların kademeli olarak yeni sürüme geçirilmesini yönetir.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4318000" y="2603500"/>
            <a:ext cx="2387600" cy="2641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Otomatik rollback ve deployment history desteği sunar, canary deployment senaryoları ile güvenli test olanağı verir ve production ortamlarında sıfır kesinti hedefler.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7505700" y="2882900"/>
            <a:ext cx="2387600" cy="3365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Production ortamlarında güvenli ve kontrollü uygulama güncellemeleri yapmak, riskleri azaltmak ve kullanıcı deneyiminde kesinti olmadan yeni sürümlere geçiş sağlamak için kullanılır.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43000" y="7797800"/>
            <a:ext cx="8750300" cy="711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ReplicaSet sürüm yönetimi ve pod çoğaltma sorumluluğu taşır; deployment ise rolling update stratejisi ve rollback mekanizmalarıyla sürüm geçişlerini koordine eder.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100" y="1714500"/>
            <a:ext cx="152400" cy="152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100" y="1714500"/>
            <a:ext cx="152400" cy="152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7800" y="1714500"/>
            <a:ext cx="152400" cy="152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800" y="692150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993900"/>
            <a:ext cx="12700" cy="1041400"/>
          </a:xfrm>
          <a:prstGeom prst="rect">
            <a:avLst/>
          </a:prstGeom>
          <a:solidFill>
            <a:srgbClr val="586BD7"/>
          </a:solidFill>
        </p:spPr>
      </p:sp>
      <p:sp>
        <p:nvSpPr>
          <p:cNvPr id="5" name="AutoShape 5"/>
          <p:cNvSpPr/>
          <p:nvPr/>
        </p:nvSpPr>
        <p:spPr>
          <a:xfrm>
            <a:off x="876300" y="3848100"/>
            <a:ext cx="14490700" cy="4648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3848100"/>
            <a:ext cx="7112000" cy="46482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8242300" y="3848100"/>
            <a:ext cx="7112000" cy="46482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76300" y="635000"/>
            <a:ext cx="144907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600" b="1">
                <a:solidFill>
                  <a:srgbClr val="000000"/>
                </a:solidFill>
                <a:latin typeface="Poppins"/>
              </a:rPr>
              <a:t>Deployment - Konfigürasyon ve Komutlar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43000" y="4102100"/>
            <a:ext cx="65786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000000"/>
                </a:solidFill>
                <a:latin typeface="Poppins"/>
              </a:rPr>
              <a:t>kubectl Komutları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509000" y="4102100"/>
            <a:ext cx="65786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000000"/>
                </a:solidFill>
                <a:latin typeface="Poppins"/>
              </a:rPr>
              <a:t>Olası Sorunlar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30300" y="1993900"/>
            <a:ext cx="14236700" cy="1041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apiVersion: apps/v1 kind: Deployment metadata: name: nginx-deployment spec: replicas: 3 strategy: type: RollingUpdate rollingUpdate: maxUnavailable: 1 maxSurge: 1 selector: matchLabels: app: nginx template: metadata: labels: app: nginx spec: containers: - name: nginx image: nginx:1.21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397000" y="4686300"/>
            <a:ext cx="6324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kubectl create deployment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397000" y="5232400"/>
            <a:ext cx="6324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kubectl get deployments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397000" y="5765800"/>
            <a:ext cx="6324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kubectl rollout status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397000" y="6299200"/>
            <a:ext cx="6324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kubectl rollout history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397000" y="6832600"/>
            <a:ext cx="6324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kubectl set image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397000" y="7366000"/>
            <a:ext cx="6324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kubectl scale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397000" y="7899400"/>
            <a:ext cx="6324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kubectl rollout undo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763000" y="4686300"/>
            <a:ext cx="6324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RollingUpdate sırasında insufficient resources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763000" y="5232400"/>
            <a:ext cx="6324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Probe hataları nedeniyle başarısız deployment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763000" y="5765800"/>
            <a:ext cx="6324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imagePullPolicy misconfiguration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016000" y="47498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016000" y="52832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016000" y="58166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016000" y="63500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016000" y="68834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016000" y="74295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1016000" y="79629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8394700" y="47498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8394700" y="52832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8394700" y="5816600"/>
            <a:ext cx="241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8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3937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Bölüm 4: Namespace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48260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Cluster kaynaklarının mantıksal bölümlenmesi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083300" y="1739900"/>
            <a:ext cx="9283700" cy="6946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6083300" y="1739900"/>
            <a:ext cx="2921000" cy="47244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6489700" y="1917700"/>
            <a:ext cx="469900" cy="469900"/>
          </a:xfrm>
          <a:prstGeom prst="roundRect">
            <a:avLst>
              <a:gd name="adj" fmla="val 48648"/>
            </a:avLst>
          </a:prstGeom>
          <a:solidFill>
            <a:srgbClr val="5163A9"/>
          </a:solidFill>
        </p:spPr>
      </p:sp>
      <p:sp>
        <p:nvSpPr>
          <p:cNvPr id="8" name="AutoShape 8"/>
          <p:cNvSpPr/>
          <p:nvPr/>
        </p:nvSpPr>
        <p:spPr>
          <a:xfrm>
            <a:off x="9258300" y="1739900"/>
            <a:ext cx="2921000" cy="47244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AutoShape 9"/>
          <p:cNvSpPr/>
          <p:nvPr/>
        </p:nvSpPr>
        <p:spPr>
          <a:xfrm>
            <a:off x="9664700" y="1917700"/>
            <a:ext cx="469900" cy="469900"/>
          </a:xfrm>
          <a:prstGeom prst="roundRect">
            <a:avLst>
              <a:gd name="adj" fmla="val 48648"/>
            </a:avLst>
          </a:prstGeom>
          <a:solidFill>
            <a:srgbClr val="5163A9"/>
          </a:solidFill>
        </p:spPr>
      </p:sp>
      <p:sp>
        <p:nvSpPr>
          <p:cNvPr id="10" name="AutoShape 10"/>
          <p:cNvSpPr/>
          <p:nvPr/>
        </p:nvSpPr>
        <p:spPr>
          <a:xfrm>
            <a:off x="12433300" y="1739900"/>
            <a:ext cx="2921000" cy="47244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12852400" y="1917700"/>
            <a:ext cx="469900" cy="469900"/>
          </a:xfrm>
          <a:prstGeom prst="roundRect">
            <a:avLst>
              <a:gd name="adj" fmla="val 48648"/>
            </a:avLst>
          </a:prstGeom>
          <a:solidFill>
            <a:srgbClr val="5163A9"/>
          </a:solidFill>
        </p:spPr>
      </p:sp>
      <p:sp>
        <p:nvSpPr>
          <p:cNvPr id="12" name="AutoShape 12"/>
          <p:cNvSpPr/>
          <p:nvPr/>
        </p:nvSpPr>
        <p:spPr>
          <a:xfrm>
            <a:off x="6083300" y="6629400"/>
            <a:ext cx="9283700" cy="20701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6489700" y="6794500"/>
            <a:ext cx="469900" cy="469900"/>
          </a:xfrm>
          <a:prstGeom prst="roundRect">
            <a:avLst>
              <a:gd name="adj" fmla="val 48648"/>
            </a:avLst>
          </a:prstGeom>
          <a:solidFill>
            <a:srgbClr val="5163A9"/>
          </a:solidFill>
        </p:spPr>
      </p:sp>
      <p:sp>
        <p:nvSpPr>
          <p:cNvPr id="14" name="TextBox 14"/>
          <p:cNvSpPr txBox="1"/>
          <p:nvPr/>
        </p:nvSpPr>
        <p:spPr>
          <a:xfrm>
            <a:off x="6083300" y="431800"/>
            <a:ext cx="92837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Poppins"/>
              </a:rPr>
              <a:t>Namespace - Cluster Kaynaklarının Mantıksal Bölümlenmesi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350000" y="2540000"/>
            <a:ext cx="23876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Namespace Kavramı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9525000" y="2540000"/>
            <a:ext cx="23876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Kullanım Alanları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2700000" y="2540000"/>
            <a:ext cx="23876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Default Namespace'ler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350000" y="7429500"/>
            <a:ext cx="87503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Kaynak Kontrolü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350000" y="3225800"/>
            <a:ext cx="2387600" cy="307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Viral cluster'lar içinde sanal cluster'lar oluşturarak kaynakları izole etme mekanizması. Her namespace, ad alanı olarak kaynak ayrımı sağlar ve mantıksal izolasyon sunar.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9525000" y="3225800"/>
            <a:ext cx="2387600" cy="2362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Multi-tenant ortamlarda tenant izolasyonu, environment ayrımı (dev/staging/prod) ve ekip bazlı kaynak ayırma senaryolarında kullanılır.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2700000" y="3505200"/>
            <a:ext cx="2387600" cy="2362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Varsayılan olarak gelen önemli namespace'ler: default, kube-system, kube-public, kube-node-lease. Sistem ve kullanıcı kaynakları için ayrım sağlar.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350000" y="7823200"/>
            <a:ext cx="87503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ResourceQuota ve LimitRange ile namespace seviyesinde CPU, bellek ve diğer kaynaklar için kotalar ve limitler belirlenerek kontrol sağlanır.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100" y="2070100"/>
            <a:ext cx="152400" cy="152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7100" y="2070100"/>
            <a:ext cx="152400" cy="152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04800" y="2070100"/>
            <a:ext cx="152400" cy="152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695960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552700"/>
            <a:ext cx="12700" cy="368300"/>
          </a:xfrm>
          <a:prstGeom prst="rect">
            <a:avLst/>
          </a:prstGeom>
          <a:solidFill>
            <a:srgbClr val="586BD7"/>
          </a:solidFill>
        </p:spPr>
      </p:sp>
      <p:sp>
        <p:nvSpPr>
          <p:cNvPr id="5" name="AutoShape 5"/>
          <p:cNvSpPr/>
          <p:nvPr/>
        </p:nvSpPr>
        <p:spPr>
          <a:xfrm>
            <a:off x="876300" y="3213100"/>
            <a:ext cx="14490700" cy="4254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3213100"/>
            <a:ext cx="7112000" cy="42545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8242300" y="3213100"/>
            <a:ext cx="7112000" cy="42545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76300" y="16637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Namespace - Oluşturma ve Yönetim Komutları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43000" y="34798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kubectl Komutları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509000" y="34798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Olası Sorunlar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30300" y="2552700"/>
            <a:ext cx="14236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apiVersion: v1 kind: Namespace metadata: name: development labels: env: dev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397000" y="41275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create namespace dev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397000" y="46990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get namespaces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397000" y="52832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config set-context --current --namespace=dev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397000" y="62484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get pods -n dev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397000" y="68199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delete namespace dev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63000" y="41275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Namespace silindiğinde içindeki tüm kaynaklar silinir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763000" y="50800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Cross-namespace service erişimi için FQDN: service.namespace.svc.cluster.local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763000" y="60452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Network policy ile namespace izolasyonu sağlanabilir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016000" y="4191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16000" y="4762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016000" y="5346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016000" y="6299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016000" y="6883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394700" y="4191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8394700" y="5143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8394700" y="6096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3937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Bölüm 5: Commands and Arguments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48260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Container başlangıç davranışını özelleştirme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679700"/>
            <a:ext cx="14490700" cy="5270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2679700"/>
            <a:ext cx="3429000" cy="52705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6" name="AutoShape 6"/>
          <p:cNvSpPr/>
          <p:nvPr/>
        </p:nvSpPr>
        <p:spPr>
          <a:xfrm>
            <a:off x="1143000" y="29464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63A9"/>
          </a:solidFill>
        </p:spPr>
      </p:sp>
      <p:sp>
        <p:nvSpPr>
          <p:cNvPr id="7" name="AutoShape 7"/>
          <p:cNvSpPr/>
          <p:nvPr/>
        </p:nvSpPr>
        <p:spPr>
          <a:xfrm>
            <a:off x="4559300" y="2679700"/>
            <a:ext cx="3429000" cy="52705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8" name="AutoShape 8"/>
          <p:cNvSpPr/>
          <p:nvPr/>
        </p:nvSpPr>
        <p:spPr>
          <a:xfrm>
            <a:off x="4826000" y="29464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63A9"/>
          </a:solidFill>
        </p:spPr>
      </p:sp>
      <p:sp>
        <p:nvSpPr>
          <p:cNvPr id="9" name="AutoShape 9"/>
          <p:cNvSpPr/>
          <p:nvPr/>
        </p:nvSpPr>
        <p:spPr>
          <a:xfrm>
            <a:off x="8242300" y="2679700"/>
            <a:ext cx="3429000" cy="52705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0" name="AutoShape 10"/>
          <p:cNvSpPr/>
          <p:nvPr/>
        </p:nvSpPr>
        <p:spPr>
          <a:xfrm>
            <a:off x="8509000" y="29464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63A9"/>
          </a:solidFill>
        </p:spPr>
      </p:sp>
      <p:sp>
        <p:nvSpPr>
          <p:cNvPr id="11" name="AutoShape 11"/>
          <p:cNvSpPr/>
          <p:nvPr/>
        </p:nvSpPr>
        <p:spPr>
          <a:xfrm>
            <a:off x="11938000" y="2679700"/>
            <a:ext cx="3429000" cy="52705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2" name="AutoShape 12"/>
          <p:cNvSpPr/>
          <p:nvPr/>
        </p:nvSpPr>
        <p:spPr>
          <a:xfrm>
            <a:off x="12204700" y="29464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63A9"/>
          </a:solidFill>
        </p:spPr>
      </p:sp>
      <p:sp>
        <p:nvSpPr>
          <p:cNvPr id="13" name="TextBox 13"/>
          <p:cNvSpPr txBox="1"/>
          <p:nvPr/>
        </p:nvSpPr>
        <p:spPr>
          <a:xfrm>
            <a:off x="876300" y="1181100"/>
            <a:ext cx="144907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Commands and Arguments - Container Başlangıç Davranışı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143000" y="3949700"/>
            <a:ext cx="28956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Command Kavramı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826000" y="3949700"/>
            <a:ext cx="2895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Args Kavramı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509000" y="3949700"/>
            <a:ext cx="28956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Kullanım Amacı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2204700" y="3949700"/>
            <a:ext cx="2895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YAML Örneği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43000" y="5029200"/>
            <a:ext cx="2895600" cy="2641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Dockerfile ENTRYPOINT'in Kubernetes karşılığıdır; container başlatıldığında çalışacak ana komut burada tanımlanır.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4826000" y="4584700"/>
            <a:ext cx="2895600" cy="226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Dockerfile CMD'nin karşılığıdır ve komuta geçirilecek parametreler olarak kullanılır; komutla birlikte çalışır.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509000" y="5029200"/>
            <a:ext cx="2895600" cy="2641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Container başlangıç davranışını override etmek ve özel script'ler veya başlangıç parametreleri çalıştırmak için kullanılır.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2204700" y="4584700"/>
            <a:ext cx="28956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command: ['/bin/sh'], args: ['-c', 'echo Hello Kubernetes &amp;&amp; sleep 3600']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3200400"/>
            <a:ext cx="241300" cy="241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700" y="3213100"/>
            <a:ext cx="215900" cy="2159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3200400"/>
            <a:ext cx="241300" cy="2413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84100" y="3225800"/>
            <a:ext cx="1778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654300"/>
            <a:ext cx="12700" cy="749300"/>
          </a:xfrm>
          <a:prstGeom prst="rect">
            <a:avLst/>
          </a:prstGeom>
          <a:solidFill>
            <a:srgbClr val="586BD7"/>
          </a:solidFill>
        </p:spPr>
      </p:sp>
      <p:sp>
        <p:nvSpPr>
          <p:cNvPr id="5" name="AutoShape 5"/>
          <p:cNvSpPr/>
          <p:nvPr/>
        </p:nvSpPr>
        <p:spPr>
          <a:xfrm>
            <a:off x="876300" y="3695700"/>
            <a:ext cx="14490700" cy="3670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3695700"/>
            <a:ext cx="7112000" cy="36703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8242300" y="3695700"/>
            <a:ext cx="7112000" cy="36703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76300" y="17653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Commands and Arguments - YAML ve Troubleshooting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43000" y="39624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kubectl Test Komutları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509000" y="39624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Olası Sorunlar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30300" y="2654300"/>
            <a:ext cx="14236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apiVersion: v1 kind: Pod metadata: name: command-demo spec: containers: - name: busybox image: busybox:latest command: ["/bin/sh"] args: ["-c", "while true; do echo hello; sleep 10; done"]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397000" y="46101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run test --image=busybox --command -- /bin/sh -c 'echo test'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397000" y="55626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logs command-demo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397000" y="61468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describe pod command-demo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763000" y="46101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Shell form vs exec form farkı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763000" y="51816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Environment variable expansion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63000" y="57658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Command başarısız olursa CrashLoopBackOff oluşur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763000" y="67183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Çift tırnak kullanımı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016000" y="4660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016000" y="5626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16000" y="6197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394700" y="4660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394700" y="5245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394700" y="5829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394700" y="6781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3937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Bölüm 6: ConfigMap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48260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Uygulama konfigürasyonlarının dışsallaştırılması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083300" y="2133600"/>
            <a:ext cx="9283700" cy="6464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6083300" y="2133600"/>
            <a:ext cx="2921000" cy="40386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6438900" y="2336800"/>
            <a:ext cx="571500" cy="571500"/>
          </a:xfrm>
          <a:prstGeom prst="roundRect">
            <a:avLst>
              <a:gd name="adj" fmla="val 48888"/>
            </a:avLst>
          </a:prstGeom>
          <a:solidFill>
            <a:srgbClr val="5163A9"/>
          </a:solidFill>
        </p:spPr>
      </p:sp>
      <p:sp>
        <p:nvSpPr>
          <p:cNvPr id="8" name="AutoShape 8"/>
          <p:cNvSpPr/>
          <p:nvPr/>
        </p:nvSpPr>
        <p:spPr>
          <a:xfrm>
            <a:off x="9258300" y="2133600"/>
            <a:ext cx="2921000" cy="40386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AutoShape 9"/>
          <p:cNvSpPr/>
          <p:nvPr/>
        </p:nvSpPr>
        <p:spPr>
          <a:xfrm>
            <a:off x="9613900" y="2336800"/>
            <a:ext cx="571500" cy="571500"/>
          </a:xfrm>
          <a:prstGeom prst="roundRect">
            <a:avLst>
              <a:gd name="adj" fmla="val 48888"/>
            </a:avLst>
          </a:prstGeom>
          <a:solidFill>
            <a:srgbClr val="5163A9"/>
          </a:solidFill>
        </p:spPr>
      </p:sp>
      <p:sp>
        <p:nvSpPr>
          <p:cNvPr id="10" name="AutoShape 10"/>
          <p:cNvSpPr/>
          <p:nvPr/>
        </p:nvSpPr>
        <p:spPr>
          <a:xfrm>
            <a:off x="12433300" y="2133600"/>
            <a:ext cx="2921000" cy="40386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12788900" y="2336800"/>
            <a:ext cx="571500" cy="571500"/>
          </a:xfrm>
          <a:prstGeom prst="roundRect">
            <a:avLst>
              <a:gd name="adj" fmla="val 48888"/>
            </a:avLst>
          </a:prstGeom>
          <a:solidFill>
            <a:srgbClr val="5163A9"/>
          </a:solidFill>
        </p:spPr>
      </p:sp>
      <p:sp>
        <p:nvSpPr>
          <p:cNvPr id="12" name="AutoShape 12"/>
          <p:cNvSpPr/>
          <p:nvPr/>
        </p:nvSpPr>
        <p:spPr>
          <a:xfrm>
            <a:off x="6083300" y="6362700"/>
            <a:ext cx="9283700" cy="22352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6438900" y="6565900"/>
            <a:ext cx="571500" cy="571500"/>
          </a:xfrm>
          <a:prstGeom prst="roundRect">
            <a:avLst>
              <a:gd name="adj" fmla="val 48888"/>
            </a:avLst>
          </a:prstGeom>
          <a:solidFill>
            <a:srgbClr val="5163A9"/>
          </a:solidFill>
        </p:spPr>
      </p:sp>
      <p:sp>
        <p:nvSpPr>
          <p:cNvPr id="14" name="TextBox 14"/>
          <p:cNvSpPr txBox="1"/>
          <p:nvPr/>
        </p:nvSpPr>
        <p:spPr>
          <a:xfrm>
            <a:off x="6083300" y="520700"/>
            <a:ext cx="9283700" cy="1384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000" b="1">
                <a:solidFill>
                  <a:srgbClr val="000000"/>
                </a:solidFill>
                <a:latin typeface="Poppins"/>
              </a:rPr>
              <a:t>ConfigMap - Uygulama Konfigürasyonlarının Dışsallaştırılması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350000" y="3111500"/>
            <a:ext cx="2387600" cy="68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Poppins"/>
              </a:rPr>
              <a:t>ConfigMap Amacı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9525000" y="3111500"/>
            <a:ext cx="2387600" cy="68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Poppins"/>
              </a:rPr>
              <a:t>Kullanım Şekilleri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2700000" y="3111500"/>
            <a:ext cx="23876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Poppins"/>
              </a:rPr>
              <a:t>Avantajları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350000" y="7340600"/>
            <a:ext cx="87503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Poppins"/>
              </a:rPr>
              <a:t>Kullanım Senaryoları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350000" y="3937000"/>
            <a:ext cx="2387600" cy="201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Konfigürasyon verilerini container image'dan ayırarak esneklik sağlar ve dağıtım süreçlerini basitleştirir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9525000" y="3937000"/>
            <a:ext cx="2387600" cy="201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Environment variable ile atama, volume mount ile dosya sağlama ve command-line argümanlarıyla yapılandırma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2700000" y="3594100"/>
            <a:ext cx="2387600" cy="201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Image yeniden build etmeden config değişikliği yapılabilir; ortama göre farklı konfigürasyon uygulanabilir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350000" y="7823200"/>
            <a:ext cx="8750300" cy="57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Application.properties, nginx.conf veya veritabanı bağlantı bilgileri gibi dışsal konfigürasyon örnekleri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00" y="2527300"/>
            <a:ext cx="190500" cy="1905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4400" y="2527300"/>
            <a:ext cx="190500" cy="190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9400" y="2527300"/>
            <a:ext cx="190500" cy="190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6700" y="675640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3035300"/>
            <a:ext cx="14490700" cy="4978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3035300"/>
            <a:ext cx="7112000" cy="49784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6" name="AutoShape 6"/>
          <p:cNvSpPr/>
          <p:nvPr/>
        </p:nvSpPr>
        <p:spPr>
          <a:xfrm>
            <a:off x="8242300" y="3035300"/>
            <a:ext cx="7112000" cy="49784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6300" y="11049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ConfigMap - Oluşturma ve Kullanım Yöntemleri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1143000" y="33020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kubectl Komutları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509000" y="33020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Olası Sorunlar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76300" y="19939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apiVersion: v1 kind: ConfigMap metadata: name: app-config data: database_url: "postgresql://localhost:5432" log_level: "info" config.properties: | app.name=MyApp app.version=1.0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397000" y="39497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create configmap app-config --from-literal=key=value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397000" y="49022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create configmap --from-file=config.txt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397000" y="54864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get configmap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397000" y="60706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describe configmap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763000" y="3949700"/>
            <a:ext cx="63246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ConfigMap güncellemesi genellikle pod restart gerektirmez; ancak volume mount ile kullanıldığında yeniden başlatma gerekebilir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763000" y="5283200"/>
            <a:ext cx="63246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ConfigMap için 1MB boyut limiti vardır; büyük yapılandırmalar için alternatif yöntemler düşünülmelidir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63000" y="6616700"/>
            <a:ext cx="63246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immutable ConfigMap özelliği (v1.21 ve sonrası) kullanıldığında ConfigMap değiştirilemez hale gelir, sürüm ve kısıtlamalara dikkat edin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016000" y="4013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016000" y="4965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016000" y="5549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16000" y="6121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394700" y="4013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394700" y="5346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394700" y="6680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3937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Bölüm 7: Secrets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48260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Hassas verilerin güvenli saklanması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083300" y="1600200"/>
            <a:ext cx="9283700" cy="7023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6083300" y="1600200"/>
            <a:ext cx="2921000" cy="46990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6451600" y="1790700"/>
            <a:ext cx="546100" cy="546100"/>
          </a:xfrm>
          <a:prstGeom prst="roundRect">
            <a:avLst>
              <a:gd name="adj" fmla="val 48837"/>
            </a:avLst>
          </a:prstGeom>
          <a:solidFill>
            <a:srgbClr val="5163A9"/>
          </a:solidFill>
        </p:spPr>
      </p:sp>
      <p:sp>
        <p:nvSpPr>
          <p:cNvPr id="8" name="AutoShape 8"/>
          <p:cNvSpPr/>
          <p:nvPr/>
        </p:nvSpPr>
        <p:spPr>
          <a:xfrm>
            <a:off x="9258300" y="1600200"/>
            <a:ext cx="2921000" cy="46990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AutoShape 9"/>
          <p:cNvSpPr/>
          <p:nvPr/>
        </p:nvSpPr>
        <p:spPr>
          <a:xfrm>
            <a:off x="9626600" y="1790700"/>
            <a:ext cx="546100" cy="546100"/>
          </a:xfrm>
          <a:prstGeom prst="roundRect">
            <a:avLst>
              <a:gd name="adj" fmla="val 48837"/>
            </a:avLst>
          </a:prstGeom>
          <a:solidFill>
            <a:srgbClr val="5163A9"/>
          </a:solidFill>
        </p:spPr>
      </p:sp>
      <p:sp>
        <p:nvSpPr>
          <p:cNvPr id="10" name="AutoShape 10"/>
          <p:cNvSpPr/>
          <p:nvPr/>
        </p:nvSpPr>
        <p:spPr>
          <a:xfrm>
            <a:off x="12433300" y="1600200"/>
            <a:ext cx="2921000" cy="46990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12801600" y="1790700"/>
            <a:ext cx="546100" cy="546100"/>
          </a:xfrm>
          <a:prstGeom prst="roundRect">
            <a:avLst>
              <a:gd name="adj" fmla="val 48837"/>
            </a:avLst>
          </a:prstGeom>
          <a:solidFill>
            <a:srgbClr val="5163A9"/>
          </a:solidFill>
        </p:spPr>
      </p:sp>
      <p:sp>
        <p:nvSpPr>
          <p:cNvPr id="12" name="AutoShape 12"/>
          <p:cNvSpPr/>
          <p:nvPr/>
        </p:nvSpPr>
        <p:spPr>
          <a:xfrm>
            <a:off x="6083300" y="6477000"/>
            <a:ext cx="9283700" cy="21463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6451600" y="6680200"/>
            <a:ext cx="546100" cy="546100"/>
          </a:xfrm>
          <a:prstGeom prst="roundRect">
            <a:avLst>
              <a:gd name="adj" fmla="val 48837"/>
            </a:avLst>
          </a:prstGeom>
          <a:solidFill>
            <a:srgbClr val="5163A9"/>
          </a:solidFill>
        </p:spPr>
      </p:sp>
      <p:sp>
        <p:nvSpPr>
          <p:cNvPr id="14" name="TextBox 14"/>
          <p:cNvSpPr txBox="1"/>
          <p:nvPr/>
        </p:nvSpPr>
        <p:spPr>
          <a:xfrm>
            <a:off x="6083300" y="508000"/>
            <a:ext cx="9283700" cy="876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Secrets - Hassas Verilerin Güvenli Saklanması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350000" y="2527300"/>
            <a:ext cx="23876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00" b="1">
                <a:solidFill>
                  <a:srgbClr val="000000"/>
                </a:solidFill>
                <a:latin typeface="Poppins"/>
              </a:rPr>
              <a:t>Secret Rolü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9525000" y="2527300"/>
            <a:ext cx="2387600" cy="660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00" b="1">
                <a:solidFill>
                  <a:srgbClr val="000000"/>
                </a:solidFill>
                <a:latin typeface="Poppins"/>
              </a:rPr>
              <a:t>ConfigMap Farkları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2700000" y="2527300"/>
            <a:ext cx="2387600" cy="660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00" b="1">
                <a:solidFill>
                  <a:srgbClr val="000000"/>
                </a:solidFill>
                <a:latin typeface="Poppins"/>
              </a:rPr>
              <a:t>Secret Tipleri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350000" y="7416800"/>
            <a:ext cx="87503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00" b="1">
                <a:solidFill>
                  <a:srgbClr val="000000"/>
                </a:solidFill>
                <a:latin typeface="Poppins"/>
              </a:rPr>
              <a:t>Güvenlik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350000" y="2997200"/>
            <a:ext cx="2387600" cy="2209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Şifre, token, SSH key gibi hassas verileri güvenli saklamak ve uygulamaların ihtiyaç duyduğu sırları güvenli şekilde sunmak.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9525000" y="3327400"/>
            <a:ext cx="2387600" cy="276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ConfigMap düz metin ayar saklarken Secret hassas veri saklar; Base64 enkodlama farklıdır, etcd'de encryption at rest ve RBAC ile erişim kontrolü önemlidir.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2700000" y="3327400"/>
            <a:ext cx="2387600" cy="2209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Opaque (generic), dockerconfigjson (image pull), tls (TLS sertifikası) ve service-account-token gibi farklı secret türleri vardır.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350000" y="7874000"/>
            <a:ext cx="87503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Ek güvenlik için Vault veya AWS Secrets Manager gibi external secret management çözümleri ile entegrasyon önerilir.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981200"/>
            <a:ext cx="177800" cy="177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4400" y="1981200"/>
            <a:ext cx="177800" cy="1778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79400" y="1981200"/>
            <a:ext cx="177800" cy="1778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6700" y="6858000"/>
            <a:ext cx="1778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892300"/>
            <a:ext cx="12700" cy="749300"/>
          </a:xfrm>
          <a:prstGeom prst="rect">
            <a:avLst/>
          </a:prstGeom>
          <a:solidFill>
            <a:srgbClr val="586BD7"/>
          </a:solidFill>
        </p:spPr>
      </p:sp>
      <p:sp>
        <p:nvSpPr>
          <p:cNvPr id="5" name="AutoShape 5"/>
          <p:cNvSpPr/>
          <p:nvPr/>
        </p:nvSpPr>
        <p:spPr>
          <a:xfrm>
            <a:off x="876300" y="2933700"/>
            <a:ext cx="14490700" cy="5181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2933700"/>
            <a:ext cx="7112000" cy="51816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8242300" y="2933700"/>
            <a:ext cx="7112000" cy="51816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76300" y="10033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Secrets - Oluşturma ve Kullanım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43000" y="32004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kubectl Komutları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509000" y="32004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Olası Sorunlar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30300" y="1892300"/>
            <a:ext cx="14236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apiVersion: v1 kind: Secret metadata: name: db-secret type: Opaque stringData: username: admin password: SuperSecret123 # data: # username: YWRtaW4= # base64 encoded # password: U3VwZXJTZWNyZXQxMjM=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397000" y="38481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create secret generic db-secret --from-literal=password=123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397000" y="48006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create secret docker-registry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397000" y="53848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get secrets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397000" y="59690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describe secret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763000" y="38481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Base64 şifreleme yerine encoding kullanımı konusunda dikkat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63000" y="4800600"/>
            <a:ext cx="63246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Secret değişikliği genellikle pod restart gerektirmez, ancak bazı senaryolarda yeniden başlatma gerekebilir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763000" y="61468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External secret operator kullanımıyla yönetimi kolaylaştırma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763000" y="70993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Private registry için imagePullSecrets yapılandırması gereklidir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016000" y="3911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16000" y="4864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016000" y="5448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016000" y="6032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394700" y="3911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394700" y="4864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8394700" y="6197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8394700" y="7162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3937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Bölüm 8: Security Contexts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48260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Container ve Pod güvenlik ayarları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76300" y="1422400"/>
            <a:ext cx="9283700" cy="7264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1422400"/>
            <a:ext cx="2921000" cy="49530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1270000" y="1587500"/>
            <a:ext cx="482600" cy="4826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8" name="AutoShape 8"/>
          <p:cNvSpPr/>
          <p:nvPr/>
        </p:nvSpPr>
        <p:spPr>
          <a:xfrm>
            <a:off x="4051300" y="1422400"/>
            <a:ext cx="2921000" cy="49530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AutoShape 9"/>
          <p:cNvSpPr/>
          <p:nvPr/>
        </p:nvSpPr>
        <p:spPr>
          <a:xfrm>
            <a:off x="4457700" y="1587500"/>
            <a:ext cx="482600" cy="4826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0" name="AutoShape 10"/>
          <p:cNvSpPr/>
          <p:nvPr/>
        </p:nvSpPr>
        <p:spPr>
          <a:xfrm>
            <a:off x="7239000" y="1422400"/>
            <a:ext cx="2921000" cy="49530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7632700" y="1587500"/>
            <a:ext cx="482600" cy="4826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2" name="AutoShape 12"/>
          <p:cNvSpPr/>
          <p:nvPr/>
        </p:nvSpPr>
        <p:spPr>
          <a:xfrm>
            <a:off x="876300" y="6540500"/>
            <a:ext cx="9283700" cy="21463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1270000" y="6705600"/>
            <a:ext cx="482600" cy="4826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4" name="TextBox 14"/>
          <p:cNvSpPr txBox="1"/>
          <p:nvPr/>
        </p:nvSpPr>
        <p:spPr>
          <a:xfrm>
            <a:off x="876300" y="444500"/>
            <a:ext cx="92837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000000"/>
                </a:solidFill>
                <a:latin typeface="Poppins"/>
              </a:rPr>
              <a:t>Security Contexts - Container ve Pod Güvenlik Ayarları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43000" y="2247900"/>
            <a:ext cx="2387600" cy="876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Security Context Kavramı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318000" y="2247900"/>
            <a:ext cx="23876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Kullanım Alanları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505700" y="2247900"/>
            <a:ext cx="2387600" cy="876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Pod vs Container Level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43000" y="7366000"/>
            <a:ext cx="87503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Best Practices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43000" y="3251200"/>
            <a:ext cx="2387600" cy="294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Container'ların çalışma izinlerini ve güvenlik özelliklerini kontrol etmek için kullanılan yapı. İşlem izinleri, runAsUser ve diğer sınırlar bu kapsamda tanımlanır ve yönetilir.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4318000" y="2946400"/>
            <a:ext cx="2387600" cy="270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Root olarak çalışmayı engelleme (runAsNonRoot) ve privilege escalation önleme gibi ayarlarla konteynerlerin saldırı yüzeyi azaltılır ve güvenlik sağlanır.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7505700" y="3251200"/>
            <a:ext cx="2387600" cy="270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Container ayarları, pod ayarlarını override edebilir; hem pod hem de container seviyesinde güvenlik politikaları tanımlanabilir ve birlikte çalıştırılmalıdır.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43000" y="7772400"/>
            <a:ext cx="87503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000000"/>
                </a:solidFill>
                <a:latin typeface="Poppins"/>
              </a:rPr>
              <a:t>Minimum privilege prensibini uygulayın, read-only filesystem kullanın ve gereksiz yetenekleri drop ederek saldırı yüzeyini en aza indirin.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100" y="1752600"/>
            <a:ext cx="152400" cy="152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800" y="1752600"/>
            <a:ext cx="152400" cy="152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7800" y="1752600"/>
            <a:ext cx="152400" cy="152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687070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892300"/>
            <a:ext cx="12700" cy="1130300"/>
          </a:xfrm>
          <a:prstGeom prst="rect">
            <a:avLst/>
          </a:prstGeom>
          <a:solidFill>
            <a:srgbClr val="586BD7"/>
          </a:solidFill>
        </p:spPr>
      </p:sp>
      <p:sp>
        <p:nvSpPr>
          <p:cNvPr id="5" name="AutoShape 5"/>
          <p:cNvSpPr/>
          <p:nvPr/>
        </p:nvSpPr>
        <p:spPr>
          <a:xfrm>
            <a:off x="876300" y="3314700"/>
            <a:ext cx="14490700" cy="4800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3314700"/>
            <a:ext cx="7112000" cy="48006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8242300" y="3314700"/>
            <a:ext cx="7112000" cy="48006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76300" y="10033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Security Contexts - Konfigürasyon ve Best Practices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43000" y="35814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kubectl Kontrol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509000" y="35814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Olası Sorunlar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30300" y="1892300"/>
            <a:ext cx="142367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apiVersion: v1 kind: Pod metadata: name: secure-pod spec: securityContext: runAsUser: 1000 runAsGroup: 3000 fsGroup: 2000 containers: - name: app image: nginx securityContext: runAsNonRoot: true readOnlyRootFilesystem: true allowPrivilegeEscalation: false capabilities: drop: ["ALL"]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397000" y="42291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exec secure-pod -- id (konteyner içinde kullanıcı bilgisi görüntüle)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397000" y="51816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exec secure-pod -- ls -l (dosya izinlerini ve sahipliğini kontrol et)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397000" y="6146800"/>
            <a:ext cx="63246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describe pod secure-pod (Pod detaylarını, event ve securityContext ayarlarını incele)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763000" y="42291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Permission denied hataları nedeniyle uygulama dosya erişimi engellenebilir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763000" y="51816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Volume mount izin sorunları fsGroup veya izinler nedeniyle oluşabilir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63000" y="61468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Gereken capabilities eksikse bazı işlemler başarısız olabilir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763000" y="70993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PodSecurityPolicy veya PodSecurityStandard enforcement politikaları engelleyebilir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016000" y="4279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016000" y="5245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16000" y="6197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394700" y="4279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394700" y="5245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394700" y="6197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394700" y="7162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3937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Bölüm 9: Resource Limits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48260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CPU ve Memory kaynak yönetimi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083300" y="1701800"/>
            <a:ext cx="9283700" cy="6883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6083300" y="1701800"/>
            <a:ext cx="2921000" cy="44069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6426200" y="1905000"/>
            <a:ext cx="584200" cy="5842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8" name="AutoShape 8"/>
          <p:cNvSpPr/>
          <p:nvPr/>
        </p:nvSpPr>
        <p:spPr>
          <a:xfrm>
            <a:off x="9258300" y="1701800"/>
            <a:ext cx="2921000" cy="44069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AutoShape 9"/>
          <p:cNvSpPr/>
          <p:nvPr/>
        </p:nvSpPr>
        <p:spPr>
          <a:xfrm>
            <a:off x="9613900" y="1905000"/>
            <a:ext cx="584200" cy="5842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0" name="AutoShape 10"/>
          <p:cNvSpPr/>
          <p:nvPr/>
        </p:nvSpPr>
        <p:spPr>
          <a:xfrm>
            <a:off x="12433300" y="1701800"/>
            <a:ext cx="2921000" cy="44069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12788900" y="1905000"/>
            <a:ext cx="584200" cy="5842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2" name="AutoShape 12"/>
          <p:cNvSpPr/>
          <p:nvPr/>
        </p:nvSpPr>
        <p:spPr>
          <a:xfrm>
            <a:off x="6083300" y="6311900"/>
            <a:ext cx="9283700" cy="22860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6426200" y="6515100"/>
            <a:ext cx="584200" cy="5842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4" name="TextBox 14"/>
          <p:cNvSpPr txBox="1"/>
          <p:nvPr/>
        </p:nvSpPr>
        <p:spPr>
          <a:xfrm>
            <a:off x="6083300" y="533400"/>
            <a:ext cx="9283700" cy="939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000" b="1">
                <a:solidFill>
                  <a:srgbClr val="000000"/>
                </a:solidFill>
                <a:latin typeface="Poppins"/>
              </a:rPr>
              <a:t>Resource Limits - CPU ve Memory Kaynak Yönetimi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350000" y="2692400"/>
            <a:ext cx="23876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Poppins"/>
              </a:rPr>
              <a:t>Requests vs Limits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9525000" y="2692400"/>
            <a:ext cx="23876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Poppins"/>
              </a:rPr>
              <a:t>Kullanım Amacı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2700000" y="2692400"/>
            <a:ext cx="23876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Poppins"/>
              </a:rPr>
              <a:t>QoS Sınıfları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350000" y="7302500"/>
            <a:ext cx="87503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Poppins"/>
              </a:rPr>
              <a:t>Kaynak Birimleri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350000" y="3543300"/>
            <a:ext cx="2387600" cy="2349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Requests: Garanti edilmiş kaynak, scheduling kriteri. Limits: Maksimum kullanım, aşımda throttling veya OOMKilled ile sonuçlanabilir.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9525000" y="3543300"/>
            <a:ext cx="2387600" cy="2349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Node kaynaklarının adil dağılımı, noisy neighbor problemini önleme ve cluster stabilitesinin korunması.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2700000" y="3543300"/>
            <a:ext cx="2387600" cy="876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Guaranteed (request=limit), Burstable (request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350000" y="7797800"/>
            <a:ext cx="87503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CPU: 1 CPU = 1000m (millicore). Memory: Mi (mebibyte), Gi (gibibyte).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700" y="2108200"/>
            <a:ext cx="190500" cy="1905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1700" y="2108200"/>
            <a:ext cx="190500" cy="190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9400" y="2108200"/>
            <a:ext cx="190500" cy="190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6700" y="671830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654300"/>
            <a:ext cx="12700" cy="749300"/>
          </a:xfrm>
          <a:prstGeom prst="rect">
            <a:avLst/>
          </a:prstGeom>
          <a:solidFill>
            <a:srgbClr val="586BD7"/>
          </a:solidFill>
        </p:spPr>
      </p:sp>
      <p:sp>
        <p:nvSpPr>
          <p:cNvPr id="5" name="AutoShape 5"/>
          <p:cNvSpPr/>
          <p:nvPr/>
        </p:nvSpPr>
        <p:spPr>
          <a:xfrm>
            <a:off x="876300" y="3695700"/>
            <a:ext cx="14490700" cy="3670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3695700"/>
            <a:ext cx="7112000" cy="36703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8242300" y="3695700"/>
            <a:ext cx="7112000" cy="36703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76300" y="17653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Resource Limits - Tanımlama ve Monitoring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43000" y="39624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kubectl Komutları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509000" y="39624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Olası Sorunlar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30300" y="2654300"/>
            <a:ext cx="14236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apiVersion: v1 kind: Pod metadata: name: resource-demo spec: containers: - name: app image: nginx resources: requests: cpu: "100m" memory: "128Mi" limits: cpu: "500m" memory: "512Mi"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397000" y="46101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top nodes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397000" y="51816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top pods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397000" y="57658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describe node (Allocated resources)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397000" y="63500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set resources deployment --limits=cpu=500m,memory=512Mi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763000" y="46101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OOMKilled (memory limit aşımı)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63000" y="51816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CPU throttling (limit aşımında yavaşlama)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763000" y="57658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Pod eviction (node pressure)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763000" y="63500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LimitRange ile namespace default limits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016000" y="4660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16000" y="5245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016000" y="5829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016000" y="6400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394700" y="4660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394700" y="5245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8394700" y="5829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8394700" y="6400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3937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Bölüm 10: Service Account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48260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Pod'ların API Server kimlik doğrulaması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76300" y="1651000"/>
            <a:ext cx="9283700" cy="695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1651000"/>
            <a:ext cx="2921000" cy="42672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1231900" y="1854200"/>
            <a:ext cx="571500" cy="571500"/>
          </a:xfrm>
          <a:prstGeom prst="roundRect">
            <a:avLst>
              <a:gd name="adj" fmla="val 48888"/>
            </a:avLst>
          </a:prstGeom>
          <a:solidFill>
            <a:srgbClr val="5163A9"/>
          </a:solidFill>
        </p:spPr>
      </p:sp>
      <p:sp>
        <p:nvSpPr>
          <p:cNvPr id="8" name="AutoShape 8"/>
          <p:cNvSpPr/>
          <p:nvPr/>
        </p:nvSpPr>
        <p:spPr>
          <a:xfrm>
            <a:off x="4051300" y="1651000"/>
            <a:ext cx="2921000" cy="42672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AutoShape 9"/>
          <p:cNvSpPr/>
          <p:nvPr/>
        </p:nvSpPr>
        <p:spPr>
          <a:xfrm>
            <a:off x="4419600" y="1854200"/>
            <a:ext cx="571500" cy="571500"/>
          </a:xfrm>
          <a:prstGeom prst="roundRect">
            <a:avLst>
              <a:gd name="adj" fmla="val 48888"/>
            </a:avLst>
          </a:prstGeom>
          <a:solidFill>
            <a:srgbClr val="5163A9"/>
          </a:solidFill>
        </p:spPr>
      </p:sp>
      <p:sp>
        <p:nvSpPr>
          <p:cNvPr id="10" name="AutoShape 10"/>
          <p:cNvSpPr/>
          <p:nvPr/>
        </p:nvSpPr>
        <p:spPr>
          <a:xfrm>
            <a:off x="7239000" y="1651000"/>
            <a:ext cx="2921000" cy="42672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7594600" y="1854200"/>
            <a:ext cx="571500" cy="571500"/>
          </a:xfrm>
          <a:prstGeom prst="roundRect">
            <a:avLst>
              <a:gd name="adj" fmla="val 48888"/>
            </a:avLst>
          </a:prstGeom>
          <a:solidFill>
            <a:srgbClr val="5163A9"/>
          </a:solidFill>
        </p:spPr>
      </p:sp>
      <p:sp>
        <p:nvSpPr>
          <p:cNvPr id="12" name="AutoShape 12"/>
          <p:cNvSpPr/>
          <p:nvPr/>
        </p:nvSpPr>
        <p:spPr>
          <a:xfrm>
            <a:off x="876300" y="6108700"/>
            <a:ext cx="9283700" cy="24892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1231900" y="6311900"/>
            <a:ext cx="571500" cy="571500"/>
          </a:xfrm>
          <a:prstGeom prst="roundRect">
            <a:avLst>
              <a:gd name="adj" fmla="val 48888"/>
            </a:avLst>
          </a:prstGeom>
          <a:solidFill>
            <a:srgbClr val="5163A9"/>
          </a:solidFill>
        </p:spPr>
      </p:sp>
      <p:sp>
        <p:nvSpPr>
          <p:cNvPr id="14" name="TextBox 14"/>
          <p:cNvSpPr txBox="1"/>
          <p:nvPr/>
        </p:nvSpPr>
        <p:spPr>
          <a:xfrm>
            <a:off x="876300" y="520700"/>
            <a:ext cx="9283700" cy="91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000" b="1">
                <a:solidFill>
                  <a:srgbClr val="000000"/>
                </a:solidFill>
                <a:latin typeface="Poppins"/>
              </a:rPr>
              <a:t>Service Account - Pod'ların API Server Kimlik Doğrulaması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460500" y="1993900"/>
            <a:ext cx="3048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8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1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143000" y="2616200"/>
            <a:ext cx="2387600" cy="1028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Poppins"/>
              </a:rPr>
              <a:t>Service Account Kavramı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4610100" y="1993900"/>
            <a:ext cx="3048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8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2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318000" y="2616200"/>
            <a:ext cx="2387600" cy="68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Poppins"/>
              </a:rPr>
              <a:t>Kullanım Amacı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7785100" y="1993900"/>
            <a:ext cx="3048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8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3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7505700" y="2616200"/>
            <a:ext cx="2387600" cy="68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Poppins"/>
              </a:rPr>
              <a:t>Default Behavior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409700" y="6451600"/>
            <a:ext cx="3048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8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4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43000" y="7073900"/>
            <a:ext cx="87503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Poppins"/>
              </a:rPr>
              <a:t>Token Location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143000" y="3771900"/>
            <a:ext cx="2387600" cy="171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Pod'ların Kubernetes API'ye kimlik doğrulaması için kullandıkları hesaplar.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4318000" y="3429000"/>
            <a:ext cx="2387600" cy="171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RBAC ile API erişim kontrolü sağlamak ve farklı pod'lara farklı yetkiler atamak için kullanılır.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7505700" y="3429000"/>
            <a:ext cx="2387600" cy="2286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Her namespace'de default service account otomatik oluşturulur ve pod'lara otomatik olarak mount edilir.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143000" y="7556500"/>
            <a:ext cx="87503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Kimlik doğrulama tokeni /var/run/secrets/kubernetes.io/serviceaccount/token yolunda saklanır.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654300"/>
            <a:ext cx="12700" cy="1130300"/>
          </a:xfrm>
          <a:prstGeom prst="rect">
            <a:avLst/>
          </a:prstGeom>
          <a:solidFill>
            <a:srgbClr val="586BD7"/>
          </a:solidFill>
        </p:spPr>
      </p:sp>
      <p:sp>
        <p:nvSpPr>
          <p:cNvPr id="5" name="AutoShape 5"/>
          <p:cNvSpPr/>
          <p:nvPr/>
        </p:nvSpPr>
        <p:spPr>
          <a:xfrm>
            <a:off x="876300" y="4064000"/>
            <a:ext cx="14490700" cy="3289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4064000"/>
            <a:ext cx="7112000" cy="32893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8242300" y="4064000"/>
            <a:ext cx="7112000" cy="32893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76300" y="17653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Service Account - Oluşturma ve RBAC Entegrasyonu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43000" y="43307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kubectl Komutları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509000" y="43307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Olası Sorunlar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30300" y="2654300"/>
            <a:ext cx="142367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apiVersion: v1 kind: ServiceAccount metadata: name: app-sa automountServiceAccountToken: true --- apiVersion: v1 kind: Pod metadata: name: app-pod spec: serviceAccountName: app-sa containers: - name: app image: nginx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397000" y="49784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create serviceaccount app-sa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397000" y="55626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get serviceaccounts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397000" y="61468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describe sa app-sa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397000" y="67183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create token app-sa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763000" y="49784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Yetki yetersizliği (forbidden errors)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63000" y="55626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token expiration (TokenRequestAPI)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763000" y="61468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RBAC Role ve RoleBinding gerekli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763000" y="67183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OIDC external identity provider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016000" y="5041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16000" y="5626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016000" y="6197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016000" y="6781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394700" y="5041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394700" y="5626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8394700" y="6197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8394700" y="6781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3937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Bölüm 11: Taints and Tolerations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48260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Node'lara Pod yerleştirme kısıtlamaları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083300" y="1816100"/>
            <a:ext cx="9283700" cy="6731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6083300" y="1816100"/>
            <a:ext cx="2921000" cy="40767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6413500" y="20447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5163A9"/>
          </a:solidFill>
        </p:spPr>
      </p:sp>
      <p:sp>
        <p:nvSpPr>
          <p:cNvPr id="8" name="AutoShape 8"/>
          <p:cNvSpPr/>
          <p:nvPr/>
        </p:nvSpPr>
        <p:spPr>
          <a:xfrm>
            <a:off x="9258300" y="1816100"/>
            <a:ext cx="2921000" cy="40767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AutoShape 9"/>
          <p:cNvSpPr/>
          <p:nvPr/>
        </p:nvSpPr>
        <p:spPr>
          <a:xfrm>
            <a:off x="9588500" y="20447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5163A9"/>
          </a:solidFill>
        </p:spPr>
      </p:sp>
      <p:sp>
        <p:nvSpPr>
          <p:cNvPr id="10" name="AutoShape 10"/>
          <p:cNvSpPr/>
          <p:nvPr/>
        </p:nvSpPr>
        <p:spPr>
          <a:xfrm>
            <a:off x="12433300" y="1816100"/>
            <a:ext cx="2921000" cy="40767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12763500" y="20447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5163A9"/>
          </a:solidFill>
        </p:spPr>
      </p:sp>
      <p:sp>
        <p:nvSpPr>
          <p:cNvPr id="12" name="AutoShape 12"/>
          <p:cNvSpPr/>
          <p:nvPr/>
        </p:nvSpPr>
        <p:spPr>
          <a:xfrm>
            <a:off x="6083300" y="6108700"/>
            <a:ext cx="9283700" cy="24384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6413500" y="63373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5163A9"/>
          </a:solidFill>
        </p:spPr>
      </p:sp>
      <p:sp>
        <p:nvSpPr>
          <p:cNvPr id="14" name="TextBox 14"/>
          <p:cNvSpPr txBox="1"/>
          <p:nvPr/>
        </p:nvSpPr>
        <p:spPr>
          <a:xfrm>
            <a:off x="6083300" y="571500"/>
            <a:ext cx="92837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300" b="1">
                <a:solidFill>
                  <a:srgbClr val="000000"/>
                </a:solidFill>
                <a:latin typeface="Poppins"/>
              </a:rPr>
              <a:t>Taints and Tolerations - Node'lara Pod Yerleştirme Kısıtlamaları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350000" y="2882900"/>
            <a:ext cx="2387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Poppins"/>
              </a:rPr>
              <a:t>Taint Kavramı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9525000" y="2882900"/>
            <a:ext cx="2387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Poppins"/>
              </a:rPr>
              <a:t>Toleration Kavramı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2700000" y="2882900"/>
            <a:ext cx="2387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Poppins"/>
              </a:rPr>
              <a:t>Kullanım Amacı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350000" y="7175500"/>
            <a:ext cx="8750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Poppins"/>
              </a:rPr>
              <a:t>Taint Effects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350000" y="3784600"/>
            <a:ext cx="2387600" cy="1892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Node'lara kısıtlama etiketi ekleyerek belirli pod'ların yerleşmesini engelleme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9525000" y="3784600"/>
            <a:ext cx="2387600" cy="1257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Pod'ların taint'leri tolere ederek o node'lara yerleşebilmesi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2700000" y="3784600"/>
            <a:ext cx="2387600" cy="157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Dedicated nodes (GPU, SSD), node bakımı ve kritik workload izolasyonu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350000" y="7708900"/>
            <a:ext cx="8750300" cy="622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NoSchedule (yeni pod yerleşmez), PreferNoSchedule, NoExecute (mevcut pod'lar evict edilir)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00" y="2247900"/>
            <a:ext cx="203200" cy="203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1700" y="2247900"/>
            <a:ext cx="203200" cy="203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66700" y="2247900"/>
            <a:ext cx="203200" cy="2032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000" y="6553200"/>
            <a:ext cx="2032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3975100"/>
            <a:ext cx="14490700" cy="3467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3975100"/>
            <a:ext cx="7112000" cy="34671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6" name="AutoShape 6"/>
          <p:cNvSpPr/>
          <p:nvPr/>
        </p:nvSpPr>
        <p:spPr>
          <a:xfrm>
            <a:off x="8242300" y="3975100"/>
            <a:ext cx="7112000" cy="34671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6300" y="16764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Taints and Tolerations - Uygulama ve Yönetim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1143000" y="42545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kubectl Komutları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509000" y="42545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Olası Sorunlar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76300" y="2565400"/>
            <a:ext cx="144907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# Node taint ekleme kubectl taint nodes node1 gpu=true:NoSchedule # Pod toleration apiVersion: v1 kind: Pod metadata: name: gpu-pod spec: tolerations: - key: "gpu" operator: "Equal" value: "true" effect: "NoSchedule" containers: - name: app image: tensorflow/tensorflow:latest-gpu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397000" y="48895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taint nodes node1 key=value:NoSchedule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397000" y="54737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taint nodes node1 key:NoSchedule- (kaldırma)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397000" y="64262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describe node (Taints bölümü)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763000" y="48895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Tolerasyon eklenmemiş pod'lar Pending durumda kalır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763000" y="58547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NoExecute etkisi ile mevcut pod'lar silinebilir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763000" y="64262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Taint ve toleration arasında key-value eşleşmesi gereklidir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16000" y="4953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016000" y="5537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016000" y="6489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394700" y="4953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394700" y="5918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394700" y="6489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3937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Bölüm 12: Node Affinity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48260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Pod'ları belirli Node'lara yönlendirme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76300" y="1498600"/>
            <a:ext cx="9283700" cy="7162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1498600"/>
            <a:ext cx="2921000" cy="47117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1257300" y="16764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8" name="AutoShape 8"/>
          <p:cNvSpPr/>
          <p:nvPr/>
        </p:nvSpPr>
        <p:spPr>
          <a:xfrm>
            <a:off x="4051300" y="1498600"/>
            <a:ext cx="2921000" cy="47117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AutoShape 9"/>
          <p:cNvSpPr/>
          <p:nvPr/>
        </p:nvSpPr>
        <p:spPr>
          <a:xfrm>
            <a:off x="4445000" y="16764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0" name="AutoShape 10"/>
          <p:cNvSpPr/>
          <p:nvPr/>
        </p:nvSpPr>
        <p:spPr>
          <a:xfrm>
            <a:off x="7239000" y="1498600"/>
            <a:ext cx="2921000" cy="47117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7620000" y="16764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2" name="AutoShape 12"/>
          <p:cNvSpPr/>
          <p:nvPr/>
        </p:nvSpPr>
        <p:spPr>
          <a:xfrm>
            <a:off x="876300" y="6388100"/>
            <a:ext cx="9283700" cy="22733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1257300" y="65659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4" name="TextBox 14"/>
          <p:cNvSpPr txBox="1"/>
          <p:nvPr/>
        </p:nvSpPr>
        <p:spPr>
          <a:xfrm>
            <a:off x="876300" y="469900"/>
            <a:ext cx="9283700" cy="825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000000"/>
                </a:solidFill>
                <a:latin typeface="Poppins"/>
              </a:rPr>
              <a:t>Node Affinity - Pod'ları Belirli Node'lara Yönlendirme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43000" y="2374900"/>
            <a:ext cx="2387600" cy="927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Node Affinity Kavramı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318000" y="2374900"/>
            <a:ext cx="2387600" cy="622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Taint/Toleration Farkı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505700" y="2374900"/>
            <a:ext cx="2387600" cy="622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Affinity Tipleri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43000" y="7264400"/>
            <a:ext cx="87503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Kullanım Senaryoları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43000" y="3429000"/>
            <a:ext cx="2387600" cy="2590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Pod'ların belirli özelliklere sahip node'lara schedule edilmesini sağlama. Etiketler ve kurallar kullanılarak hedeflenmiş yerleştirme yapılır.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4318000" y="3124200"/>
            <a:ext cx="2387600" cy="233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Pozitif seçim (tercih etme) vs negatif seçim (engelleme) yaklaşımı. Taint node seviyesinde reddeder, toleration pod üzerinde izin verir.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7505700" y="3124200"/>
            <a:ext cx="2387600" cy="233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required (zorunlu), preferred (tercih edilen) ve IgnoredDuringExecution gibi farklı eşleme tipi ve öncelik seçenekleri bulunur.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43000" y="7696200"/>
            <a:ext cx="87503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Zone/region bazlı dağıtım, donanım özelliklerine göre yerleştirme (SSD, GPU) gibi senaryolarda Node Affinity ile performans ve uyumluluk sağlanır.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100" y="1854200"/>
            <a:ext cx="165100" cy="165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100" y="1854200"/>
            <a:ext cx="165100" cy="1651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5100" y="1854200"/>
            <a:ext cx="165100" cy="1651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5100" y="6743700"/>
            <a:ext cx="165100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4762500"/>
            <a:ext cx="14490700" cy="2286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4762500"/>
            <a:ext cx="7112000" cy="22860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6" name="AutoShape 6"/>
          <p:cNvSpPr/>
          <p:nvPr/>
        </p:nvSpPr>
        <p:spPr>
          <a:xfrm>
            <a:off x="8242300" y="4762500"/>
            <a:ext cx="7112000" cy="22860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6300" y="20701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Node Affinity - Konfigürasyon ve Operatörler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1143000" y="50292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Operatörler ve kubectl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509000" y="50292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Olası Sorunlar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76300" y="2959100"/>
            <a:ext cx="144907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apiVersion: v1 kind: Pod metadata: name: affinity-pod spec: affinity: nodeAffinity: requiredDuringSchedulingIgnoredDuringExecution: nodeSelectorTerms: - matchExpressions: - key: disktype operator: In values: ["ssd"] preferredDuringSchedulingIgnoredDuringExecution: - weight: 1 preference: matchExpressions: - key: zone operator: In values: ["us-east-1a"]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43000" y="5651500"/>
            <a:ext cx="65786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In, NotIn, Exists, DoesNotExist, Gt, Lt operatörleri. Örnek komutlar: kubectl label nodes node1 disktype=ssd; kubectl get nodes --show-labels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509000" y="5651500"/>
            <a:ext cx="65786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Uygun node bulunamazsa pod pending kalır. Node selector (basit) vs affinity (gelişmiş). Anti-affinity ile pod dağılımı sağlanarak çakışmalar azaltılabilir.</a:t>
            </a:r>
            <a:endParaRPr lang="en-US"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3937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Bölüm 13: Multi-Container Pods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48260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Tek Pod içinde birden fazla container</a:t>
            </a:r>
            <a:endParaRPr lang="en-US" sz="11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083300" y="1498600"/>
            <a:ext cx="9283700" cy="7162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6083300" y="1498600"/>
            <a:ext cx="2921000" cy="49657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6464300" y="16764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8" name="AutoShape 8"/>
          <p:cNvSpPr/>
          <p:nvPr/>
        </p:nvSpPr>
        <p:spPr>
          <a:xfrm>
            <a:off x="9258300" y="1498600"/>
            <a:ext cx="2921000" cy="49657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AutoShape 9"/>
          <p:cNvSpPr/>
          <p:nvPr/>
        </p:nvSpPr>
        <p:spPr>
          <a:xfrm>
            <a:off x="9639300" y="16764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0" name="AutoShape 10"/>
          <p:cNvSpPr/>
          <p:nvPr/>
        </p:nvSpPr>
        <p:spPr>
          <a:xfrm>
            <a:off x="12433300" y="1498600"/>
            <a:ext cx="2921000" cy="49657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12827000" y="16764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2" name="AutoShape 12"/>
          <p:cNvSpPr/>
          <p:nvPr/>
        </p:nvSpPr>
        <p:spPr>
          <a:xfrm>
            <a:off x="6083300" y="6642100"/>
            <a:ext cx="9283700" cy="20066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6464300" y="68326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4" name="TextBox 14"/>
          <p:cNvSpPr txBox="1"/>
          <p:nvPr/>
        </p:nvSpPr>
        <p:spPr>
          <a:xfrm>
            <a:off x="6083300" y="469900"/>
            <a:ext cx="9283700" cy="825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000000"/>
                </a:solidFill>
                <a:latin typeface="Poppins"/>
              </a:rPr>
              <a:t>Multi-Container Pods - Tek Pod İçinde Birden Fazla Container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350000" y="2374900"/>
            <a:ext cx="2387600" cy="927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Multi-Container Pattern'ler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9525000" y="2374900"/>
            <a:ext cx="2387600" cy="622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Kullanım Amacı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2700000" y="2374900"/>
            <a:ext cx="2387600" cy="622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Paylaşılan Kaynaklar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350000" y="7518400"/>
            <a:ext cx="87503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00000"/>
                </a:solidFill>
                <a:latin typeface="Poppins"/>
              </a:rPr>
              <a:t>Container Lifecycle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350000" y="3429000"/>
            <a:ext cx="2387600" cy="285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Sidecar (log collector), Ambassador (proxy), Adapter (format converter) gibi yardımcı konteyner desenleri ile işlevsel ayrışma sağlanır.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9525000" y="3124200"/>
            <a:ext cx="2387600" cy="207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Tight coupling gereken servisleri aynı pod'da çalıştırma; birbirini tamamlayan görevlerin birlikte yönetilmesi için kullanılır.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2700000" y="3124200"/>
            <a:ext cx="2387600" cy="285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Network namespace (localhost), paylaşılan volumes (filesystem) ve IPC namespace gibi kaynaklar konteynerler arasında ortak kullanılır.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350000" y="7962900"/>
            <a:ext cx="87503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Ana container çalıştığı sürece pod Running durumunda kalır; herhangi bir konteyner fail olursa pod yeniden başlatılır.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854200"/>
            <a:ext cx="165100" cy="1651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7100" y="1854200"/>
            <a:ext cx="165100" cy="1651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04800" y="1854200"/>
            <a:ext cx="165100" cy="1651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7010400"/>
            <a:ext cx="165100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803400"/>
            <a:ext cx="12700" cy="1130300"/>
          </a:xfrm>
          <a:prstGeom prst="rect">
            <a:avLst/>
          </a:prstGeom>
          <a:solidFill>
            <a:srgbClr val="586BD7"/>
          </a:solidFill>
        </p:spPr>
      </p:sp>
      <p:sp>
        <p:nvSpPr>
          <p:cNvPr id="5" name="AutoShape 5"/>
          <p:cNvSpPr/>
          <p:nvPr/>
        </p:nvSpPr>
        <p:spPr>
          <a:xfrm>
            <a:off x="876300" y="3225800"/>
            <a:ext cx="14490700" cy="4978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3225800"/>
            <a:ext cx="7112000" cy="49784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8242300" y="3225800"/>
            <a:ext cx="7112000" cy="49784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76300" y="9144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Multi-Container Pods - Tasarım ve Örnek Senaryolar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43000" y="34925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kubectl Komutları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509000" y="34925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Olası Sorunlar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30300" y="1803400"/>
            <a:ext cx="142367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apiVersion: v1 kind: Pod metadata: name: web-app spec: containers: - name: nginx image: nginx:latest volumeMounts: - name: shared-logs mountPath: /var/log/nginx - name: log-forwarder image: fluentd:latest volumeMounts: - name: shared-logs mountPath: /logs volumes: - name: shared-logs emptyDir: {}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397000" y="41402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logs web-app -c nginx (nginx container için logları gösterir ve hata kontrolü yapar)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397000" y="5092700"/>
            <a:ext cx="63246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logs web-app -c log-forwarder (log-forwarder container loglarını izler ve yönlendirmeyi doğrular)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397000" y="6426200"/>
            <a:ext cx="63246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exec web-app -c nginx -- command (nginx içinde komut çalıştırarak canlı müdahale sağlar)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763000" y="4140200"/>
            <a:ext cx="63246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Container'lar arası bağımlılık yönetimi (başlangıç sıralaması ve veri paylaşımı senaryoları dikkatle planlanmalı)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763000" y="5473700"/>
            <a:ext cx="63246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Resource limit tüm container'lar için ayrı tanımlanmalı (CPU ve bellek limitleri her container bazında belirlenmeli)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63000" y="6807200"/>
            <a:ext cx="63246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Readiness probe her container için kontrol (her container'ın hazır olma durumu ayrı ayrı izlenmeli ve servis trafiği buna göre yönlendirilmeli)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016000" y="4203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016000" y="5156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016000" y="6489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394700" y="4203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394700" y="5537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394700" y="6870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3937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Bölüm 14: Readiness Probes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48260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Pod'un trafiği kabul etmeye hazır olduğunu kontrol</a:t>
            </a:r>
            <a:endParaRPr lang="en-US" sz="11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76300" y="1803400"/>
            <a:ext cx="9283700" cy="6756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1803400"/>
            <a:ext cx="2921000" cy="41148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1206500" y="20320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5163A9"/>
          </a:solidFill>
        </p:spPr>
      </p:sp>
      <p:sp>
        <p:nvSpPr>
          <p:cNvPr id="8" name="AutoShape 8"/>
          <p:cNvSpPr/>
          <p:nvPr/>
        </p:nvSpPr>
        <p:spPr>
          <a:xfrm>
            <a:off x="4051300" y="1803400"/>
            <a:ext cx="2921000" cy="41148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AutoShape 9"/>
          <p:cNvSpPr/>
          <p:nvPr/>
        </p:nvSpPr>
        <p:spPr>
          <a:xfrm>
            <a:off x="4394200" y="20320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5163A9"/>
          </a:solidFill>
        </p:spPr>
      </p:sp>
      <p:sp>
        <p:nvSpPr>
          <p:cNvPr id="10" name="AutoShape 10"/>
          <p:cNvSpPr/>
          <p:nvPr/>
        </p:nvSpPr>
        <p:spPr>
          <a:xfrm>
            <a:off x="7239000" y="1803400"/>
            <a:ext cx="2921000" cy="41148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7569200" y="20320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5163A9"/>
          </a:solidFill>
        </p:spPr>
      </p:sp>
      <p:sp>
        <p:nvSpPr>
          <p:cNvPr id="12" name="AutoShape 12"/>
          <p:cNvSpPr/>
          <p:nvPr/>
        </p:nvSpPr>
        <p:spPr>
          <a:xfrm>
            <a:off x="876300" y="6134100"/>
            <a:ext cx="9283700" cy="24257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1206500" y="63627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5163A9"/>
          </a:solidFill>
        </p:spPr>
      </p:sp>
      <p:sp>
        <p:nvSpPr>
          <p:cNvPr id="14" name="TextBox 14"/>
          <p:cNvSpPr txBox="1"/>
          <p:nvPr/>
        </p:nvSpPr>
        <p:spPr>
          <a:xfrm>
            <a:off x="876300" y="571500"/>
            <a:ext cx="9283700" cy="99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200" b="1">
                <a:solidFill>
                  <a:srgbClr val="000000"/>
                </a:solidFill>
                <a:latin typeface="Poppins"/>
              </a:rPr>
              <a:t>Readiness Probes - Pod'un Trafiği Kabul Etmeye Hazır Olması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43000" y="2857500"/>
            <a:ext cx="2387600" cy="111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Poppins"/>
              </a:rPr>
              <a:t>Readiness Probe Amacı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318000" y="2857500"/>
            <a:ext cx="2387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Poppins"/>
              </a:rPr>
              <a:t>Liveness vs Readiness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505700" y="2857500"/>
            <a:ext cx="2387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Poppins"/>
              </a:rPr>
              <a:t>Probe Tipleri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43000" y="7188200"/>
            <a:ext cx="8750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Poppins"/>
              </a:rPr>
              <a:t>Kullanım Senaryoları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43000" y="4140200"/>
            <a:ext cx="2387600" cy="156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Pod başladığında hemen trafiği almaması, hazır olana kadar beklenmesi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4318000" y="3759200"/>
            <a:ext cx="23876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Liveness: container'ı restart et; Readiness: service endpoint'inden çıkar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7505700" y="3759200"/>
            <a:ext cx="23876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httpGet (HTTP request), tcpSocket (TCP connection), exec (komut çalıştırma)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43000" y="7708900"/>
            <a:ext cx="8750300" cy="622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Veritabanı bağlantısı kontrolü, cache ısınması, bağımlı servislerin hazır olması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2235200"/>
            <a:ext cx="203200" cy="203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4700" y="2235200"/>
            <a:ext cx="203200" cy="203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235200"/>
            <a:ext cx="203200" cy="2032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2400" y="6578600"/>
            <a:ext cx="1778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3797300"/>
            <a:ext cx="14490700" cy="3848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3797300"/>
            <a:ext cx="7112000" cy="38481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6" name="AutoShape 6"/>
          <p:cNvSpPr/>
          <p:nvPr/>
        </p:nvSpPr>
        <p:spPr>
          <a:xfrm>
            <a:off x="8242300" y="3797300"/>
            <a:ext cx="7112000" cy="38481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6300" y="14859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Readiness Probes - Konfigürasyon ve Best Practices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1143000" y="40640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Kubectl Kontrol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509000" y="40640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Olası Sorunlar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76300" y="2374900"/>
            <a:ext cx="144907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apiVersion: v1 kind: Pod metadata: name: webapp spec: containers: - name: app image: myapp:v1 readinessProbe: httpGet: path: /health port: 8080 initialDelaySeconds: 10 periodSeconds: 5 timeoutSeconds: 3 successThreshold: 1 failureThreshold: 3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397000" y="46990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describe pod webapp (Readiness bölümünü kontrol edin)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397000" y="56642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get pods (READY sütunu; örn. 0/1 ise hazır değil)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397000" y="66167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get endpoints service-name (servis endpointlerini doğrulayın)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763000" y="46990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Probe başarısız olursa pod Ready olmaz ve servis trafiği almaz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763000" y="56642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Çok agresif probe ayarları false negative sonuçlar üretebilir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763000" y="66167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Uzun başlangıç süreleri için startupProbe kullanmak daha uygundur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16000" y="4762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016000" y="5727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016000" y="6680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394700" y="4762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394700" y="5727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394700" y="6680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3937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Bölüm 15: Logging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48260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Container ve Cluster log yönetimi</a:t>
            </a:r>
            <a:endParaRPr lang="en-US" sz="11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083300" y="1536700"/>
            <a:ext cx="9283700" cy="7099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6083300" y="1536700"/>
            <a:ext cx="2921000" cy="48514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6451600" y="17272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8" name="AutoShape 8"/>
          <p:cNvSpPr/>
          <p:nvPr/>
        </p:nvSpPr>
        <p:spPr>
          <a:xfrm>
            <a:off x="9258300" y="1536700"/>
            <a:ext cx="2921000" cy="48514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AutoShape 9"/>
          <p:cNvSpPr/>
          <p:nvPr/>
        </p:nvSpPr>
        <p:spPr>
          <a:xfrm>
            <a:off x="9639300" y="17272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0" name="AutoShape 10"/>
          <p:cNvSpPr/>
          <p:nvPr/>
        </p:nvSpPr>
        <p:spPr>
          <a:xfrm>
            <a:off x="12433300" y="1536700"/>
            <a:ext cx="2921000" cy="48514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12814300" y="17272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2" name="AutoShape 12"/>
          <p:cNvSpPr/>
          <p:nvPr/>
        </p:nvSpPr>
        <p:spPr>
          <a:xfrm>
            <a:off x="6083300" y="6578600"/>
            <a:ext cx="9283700" cy="20701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6451600" y="67691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4" name="TextBox 14"/>
          <p:cNvSpPr txBox="1"/>
          <p:nvPr/>
        </p:nvSpPr>
        <p:spPr>
          <a:xfrm>
            <a:off x="6083300" y="482600"/>
            <a:ext cx="92837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>
                <a:solidFill>
                  <a:srgbClr val="000000"/>
                </a:solidFill>
                <a:latin typeface="Poppins"/>
              </a:rPr>
              <a:t>Logging - Container ve Cluster Log Yönetimi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350000" y="2438400"/>
            <a:ext cx="23876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00" b="1">
                <a:solidFill>
                  <a:srgbClr val="000000"/>
                </a:solidFill>
                <a:latin typeface="Poppins"/>
              </a:rPr>
              <a:t>Logging Seviyeleri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9525000" y="2438400"/>
            <a:ext cx="23876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00" b="1">
                <a:solidFill>
                  <a:srgbClr val="000000"/>
                </a:solidFill>
                <a:latin typeface="Poppins"/>
              </a:rPr>
              <a:t>Log Stratejileri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2700000" y="2438400"/>
            <a:ext cx="2387600" cy="952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00" b="1">
                <a:solidFill>
                  <a:srgbClr val="000000"/>
                </a:solidFill>
                <a:latin typeface="Poppins"/>
              </a:rPr>
              <a:t>Logging Stack Örnekleri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350000" y="7480300"/>
            <a:ext cx="87503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00" b="1">
                <a:solidFill>
                  <a:srgbClr val="000000"/>
                </a:solidFill>
                <a:latin typeface="Poppins"/>
              </a:rPr>
              <a:t>Best Practices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350000" y="3213100"/>
            <a:ext cx="2387600" cy="240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Container logları (stdout/stderr), node seviyesinde kayıtlar ve cluster seviyesinde merkezi log toplama ile kapsamlı gözlem sağlar.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9525000" y="3213100"/>
            <a:ext cx="2387600" cy="2667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Node logging agent (DaemonSet), sidecar container yaklaşımı veya uygulamadan log backend'e doğrudan push etme seçenekleri değerlendirilir.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2700000" y="3530600"/>
            <a:ext cx="2387600" cy="2667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Yaygın örnekler: EFK (Elasticsearch-Fluentd-Kibana), ELK (Elasticsearch-Logstash-Kibana), Loki-Promtail-Grafana ile merkezi izleme.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350000" y="7924800"/>
            <a:ext cx="87503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Structured logging (JSON) kullanımı, log rotation ve retention policy uygulanması ile persistent storage önerilir.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905000"/>
            <a:ext cx="177800" cy="177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4400" y="1905000"/>
            <a:ext cx="177800" cy="1778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79400" y="1905000"/>
            <a:ext cx="177800" cy="1778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6946900"/>
            <a:ext cx="1778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006600"/>
            <a:ext cx="14490700" cy="5994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2006600"/>
            <a:ext cx="7112000" cy="59944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6" name="AutoShape 6"/>
          <p:cNvSpPr/>
          <p:nvPr/>
        </p:nvSpPr>
        <p:spPr>
          <a:xfrm>
            <a:off x="8242300" y="2006600"/>
            <a:ext cx="7112000" cy="59944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76300" y="11176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Logging - kubectl Log Komutları ve Troubleshooting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1143000" y="22733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kubectl Log Komutları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509000" y="22733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Olası Sorunlar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397000" y="29210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logs pod-name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397000" y="35052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logs pod-name -c container-name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397000" y="40894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logs pod-name --previous (crash sonrası)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397000" y="50419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logs pod-name --since=1h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397000" y="56261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logs pod-name --tail=100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397000" y="61976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logs -f pod-name (follow)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397000" y="67818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logs deployment/name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397000" y="73660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logs -l app=myapp (label selector)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763000" y="29210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Log rotation ve retention politikalarının eksikliği, eski logların kontrolü gerekir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763000" y="38862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Disk dolması nedeniyle logrotate yapılandırması ve uyarı mekanizmaları önemlidir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763000" y="48387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Ephemeral storage limitleri log kaybına yol açabilir, limitler izlenmelidir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763000" y="58039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Persistent logging için external solution (ELK, Fluentd, Loki vb.) gereklidir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763000" y="67564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Container çökerse lokal loglar kaybolabilir; merkezi loglama ile korunmalıdır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016000" y="2984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016000" y="3568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016000" y="4140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016000" y="5105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016000" y="5676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1016000" y="6261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016000" y="6845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016000" y="7429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8394700" y="2984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8394700" y="3937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8394700" y="4902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8394700" y="5854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8394700" y="6819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3937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Bölüm 16: Init Containers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48260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Pod başlatılmadan önce çalışan container'lar</a:t>
            </a:r>
            <a:endParaRPr lang="en-US" sz="11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489" b="489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76300" y="2070100"/>
            <a:ext cx="9283700" cy="6553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2070100"/>
            <a:ext cx="2921000" cy="41910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1244600" y="22606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8" name="AutoShape 8"/>
          <p:cNvSpPr/>
          <p:nvPr/>
        </p:nvSpPr>
        <p:spPr>
          <a:xfrm>
            <a:off x="4051300" y="2070100"/>
            <a:ext cx="2921000" cy="41910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AutoShape 9"/>
          <p:cNvSpPr/>
          <p:nvPr/>
        </p:nvSpPr>
        <p:spPr>
          <a:xfrm>
            <a:off x="4419600" y="22606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0" name="AutoShape 10"/>
          <p:cNvSpPr/>
          <p:nvPr/>
        </p:nvSpPr>
        <p:spPr>
          <a:xfrm>
            <a:off x="7239000" y="2070100"/>
            <a:ext cx="2921000" cy="41910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7607300" y="22606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2" name="AutoShape 12"/>
          <p:cNvSpPr/>
          <p:nvPr/>
        </p:nvSpPr>
        <p:spPr>
          <a:xfrm>
            <a:off x="876300" y="6451600"/>
            <a:ext cx="9283700" cy="21717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1244600" y="66421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5163A9"/>
          </a:solidFill>
        </p:spPr>
      </p:sp>
      <p:sp>
        <p:nvSpPr>
          <p:cNvPr id="14" name="TextBox 14"/>
          <p:cNvSpPr txBox="1"/>
          <p:nvPr/>
        </p:nvSpPr>
        <p:spPr>
          <a:xfrm>
            <a:off x="876300" y="508000"/>
            <a:ext cx="9283700" cy="1346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Init Containers - Pod Başlatılmadan Önce Çalışan Container'lar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43000" y="3009900"/>
            <a:ext cx="23876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Poppins"/>
              </a:rPr>
              <a:t>Init Container Kavramı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318000" y="3009900"/>
            <a:ext cx="23876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Poppins"/>
              </a:rPr>
              <a:t>Kullanım Amaçları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505700" y="3009900"/>
            <a:ext cx="23876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Poppins"/>
              </a:rPr>
              <a:t>Davranış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43000" y="7391400"/>
            <a:ext cx="87503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Poppins"/>
              </a:rPr>
              <a:t>Özellikler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43000" y="4152900"/>
            <a:ext cx="2387600" cy="167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Ana container'lar başlamadan önce sırayla çalışan, tamamlanması gereken container'lar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4318000" y="3822700"/>
            <a:ext cx="2387600" cy="2235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Database migration, configuration dosyası oluşturma, dependency servislerin hazır olmasını bekleme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7505700" y="3479800"/>
            <a:ext cx="2387600" cy="195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Init container'lar tamamlanana kadar ana container başlamaz, başarısız olursa pod restart edilir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43000" y="7861300"/>
            <a:ext cx="87503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00000"/>
                </a:solidFill>
                <a:latin typeface="Poppins"/>
              </a:rPr>
              <a:t>Sıralı çalışır, resource limits ayrı tanımlanabilir, volume mount paylaşılır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400" y="2451100"/>
            <a:ext cx="177800" cy="177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100" y="2451100"/>
            <a:ext cx="177800" cy="1778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5100" y="2451100"/>
            <a:ext cx="177800" cy="1778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400" y="6832600"/>
            <a:ext cx="1778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3238500"/>
            <a:ext cx="12700" cy="1130300"/>
          </a:xfrm>
          <a:prstGeom prst="rect">
            <a:avLst/>
          </a:prstGeom>
          <a:solidFill>
            <a:srgbClr val="586BD7"/>
          </a:solidFill>
        </p:spPr>
      </p:sp>
      <p:sp>
        <p:nvSpPr>
          <p:cNvPr id="5" name="AutoShape 5"/>
          <p:cNvSpPr/>
          <p:nvPr/>
        </p:nvSpPr>
        <p:spPr>
          <a:xfrm>
            <a:off x="876300" y="4660900"/>
            <a:ext cx="14490700" cy="2717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4660900"/>
            <a:ext cx="7112000" cy="27178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8242300" y="4660900"/>
            <a:ext cx="7112000" cy="27178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76300" y="1752600"/>
            <a:ext cx="144907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Init Containers, Labels ve Selectors - Konfigürasyon ve Yönetim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43000" y="49276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Init Container Komutları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509000" y="4927600"/>
            <a:ext cx="6578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Labels ve Selectors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30300" y="3238500"/>
            <a:ext cx="142367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apiVersion: v1 kind: Pod metadata: name: myapp labels: app: frontend env: prod spec: initContainers: - name: init-db image: busybox command: ['sh', '-c', 'until nslookup mydb; do sleep 2; done'] containers: - name: app image: myapp:v1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397000" y="5575300"/>
            <a:ext cx="6324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describe pod myapp (Init Containers section)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397000" y="65278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logs myapp -c init-db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763000" y="55753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label pods myapp tier=frontend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763000" y="61595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get pods -l app=frontend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763000" y="6731000"/>
            <a:ext cx="632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kubectl get pods -l 'env in (prod,staging)'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16000" y="5638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016000" y="6591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394700" y="5638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394700" y="6210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394700" y="6794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778000"/>
            <a:ext cx="14490700" cy="6451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1778000"/>
            <a:ext cx="3429000" cy="64516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6" name="AutoShape 6"/>
          <p:cNvSpPr/>
          <p:nvPr/>
        </p:nvSpPr>
        <p:spPr>
          <a:xfrm>
            <a:off x="4559300" y="1778000"/>
            <a:ext cx="3429000" cy="64516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8242300" y="1778000"/>
            <a:ext cx="3429000" cy="64516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8" name="AutoShape 8"/>
          <p:cNvSpPr/>
          <p:nvPr/>
        </p:nvSpPr>
        <p:spPr>
          <a:xfrm>
            <a:off x="11938000" y="1778000"/>
            <a:ext cx="3429000" cy="64516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76300" y="889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Rolling Update, Rollback, Jobs ve CronJobs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143000" y="2044700"/>
            <a:ext cx="2895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Rolling Update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826000" y="2044700"/>
            <a:ext cx="2895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Rollback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509000" y="2044700"/>
            <a:ext cx="2895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Jobs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2204700" y="2044700"/>
            <a:ext cx="2895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CronJobs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143000" y="2679700"/>
            <a:ext cx="2895600" cy="5283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Güncellemeler için kubectl set image deployment/app nginx=nginx:1.22 komutu kullanılabilir; ilerleme kontrolü için kubectl rollout status deployment/app; ayrıca maxUnavailable ve maxSurge parametreleri ile Pod güncelleme stratejisi ayarlanır.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826000" y="2679700"/>
            <a:ext cx="2895600" cy="453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Bir sürüme geri dönmek için kubectl rollout undo deployment/app; belirli revizyona dönmek için kubectl rollout undo --to-revision=2; geçmişi görmek için kubectl rollout history deployment/app kullanılır.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509000" y="2679700"/>
            <a:ext cx="2895600" cy="453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Batch processing için Jobs kullanılır; completions ve parallelism parametreleri iş tamamlanma ve paralel çalışma kontrolünü sağlar; örnek oluşturma: kubectl create job backup --image=mysql:8.0.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2204700" y="2679700"/>
            <a:ext cx="2895600" cy="339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Zamanlı işler için CronJobs; schedule örneği '0 2 * * *' ile günlük 02:00'de çalıştırma; yaratma örneği: kubectl create cronjob backup --image=backup --schedule='0 2 * * *'.</a:t>
            </a:r>
            <a:endParaRPr lang="en-US" sz="11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501900"/>
            <a:ext cx="14490700" cy="5016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2501900"/>
            <a:ext cx="3429000" cy="50165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6" name="AutoShape 6"/>
          <p:cNvSpPr/>
          <p:nvPr/>
        </p:nvSpPr>
        <p:spPr>
          <a:xfrm>
            <a:off x="4559300" y="2501900"/>
            <a:ext cx="3429000" cy="50165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8242300" y="2501900"/>
            <a:ext cx="3429000" cy="50165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8" name="AutoShape 8"/>
          <p:cNvSpPr/>
          <p:nvPr/>
        </p:nvSpPr>
        <p:spPr>
          <a:xfrm>
            <a:off x="11938000" y="2501900"/>
            <a:ext cx="3429000" cy="50165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76300" y="16129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00000"/>
                </a:solidFill>
                <a:latin typeface="Poppins"/>
              </a:rPr>
              <a:t>Services, Network Policies, Ingress ve Gateway API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143000" y="2768600"/>
            <a:ext cx="28956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Kubernetes Service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826000" y="2768600"/>
            <a:ext cx="28956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Network Policies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509000" y="2768600"/>
            <a:ext cx="2895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Ingress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2204700" y="2768600"/>
            <a:ext cx="2895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00000"/>
                </a:solidFill>
                <a:latin typeface="Poppins"/>
              </a:rPr>
              <a:t>Gateway API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143000" y="3848100"/>
            <a:ext cx="2895600" cy="339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ClusterIP (cluster içi erişim), NodePort (harici erişim 30000-32767 aralığı), LoadBalancer (cloud LB). Örnek komut: kubectl expose deployment app --port=80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826000" y="3848100"/>
            <a:ext cx="2895600" cy="339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Pod'lar arası trafiği kontrol eder; ingress ve egress kuralları tanımlanır. PodSelector ve namespaceSelector ile hedefleme yapılır. CNI plugin gereklidir (Calico, Cilium gibi).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509000" y="3390900"/>
            <a:ext cx="2895600" cy="339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HTTP/HTTPS yönlendirme sağlar; path-based ve host-based routing desteklenir. TLS termination yapılabilir. Bir Ingress Controller gereklidir (NGINX, Traefik vb.).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2204700" y="3390900"/>
            <a:ext cx="2895600" cy="3771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Yeni nesil routing modeli: GatewayClass, Gateway ve HTTPRoute kaynakları ile çalışır. Role separation ve vendor-agnostic tasarım sunar, daha esnek ve genişletilebilir.</a:t>
            </a:r>
            <a:endParaRPr lang="en-US" sz="11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270000"/>
            <a:ext cx="14490700" cy="7302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1270000"/>
            <a:ext cx="3429000" cy="73025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6" name="AutoShape 6"/>
          <p:cNvSpPr/>
          <p:nvPr/>
        </p:nvSpPr>
        <p:spPr>
          <a:xfrm>
            <a:off x="4559300" y="1270000"/>
            <a:ext cx="3429000" cy="73025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8242300" y="1270000"/>
            <a:ext cx="3429000" cy="73025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8" name="AutoShape 8"/>
          <p:cNvSpPr/>
          <p:nvPr/>
        </p:nvSpPr>
        <p:spPr>
          <a:xfrm>
            <a:off x="11938000" y="1270000"/>
            <a:ext cx="3429000" cy="7302500"/>
          </a:xfrm>
          <a:prstGeom prst="rect">
            <a:avLst/>
          </a:prstGeom>
          <a:solidFill>
            <a:srgbClr val="C8CFF1">
              <a:alpha val="67843"/>
            </a:srgbClr>
          </a:solidFill>
          <a:ln w="12700">
            <a:solidFill>
              <a:srgbClr val="9EA2E2">
                <a:alpha val="72941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76300" y="546100"/>
            <a:ext cx="14490700" cy="48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100" b="1">
                <a:solidFill>
                  <a:srgbClr val="000000"/>
                </a:solidFill>
                <a:latin typeface="Poppins"/>
              </a:rPr>
              <a:t>Persistent Volumes, Storage Class, Helm ve Docker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143000" y="1485900"/>
            <a:ext cx="28956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Poppins"/>
              </a:rPr>
              <a:t>Persistent Volumes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826000" y="1485900"/>
            <a:ext cx="28956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Poppins"/>
              </a:rPr>
              <a:t>Storage Class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509000" y="1485900"/>
            <a:ext cx="28956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Poppins"/>
              </a:rPr>
              <a:t>Helm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2204700" y="1485900"/>
            <a:ext cx="28956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000000"/>
                </a:solidFill>
                <a:latin typeface="Poppins"/>
              </a:rPr>
              <a:t>Docker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397000" y="2374900"/>
            <a:ext cx="26416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PV: admin provision ile sağlanan fiziksel/abastract depolama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397000" y="3746500"/>
            <a:ext cx="26416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PVC: user request yoluyla depolama talebi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397000" y="4826000"/>
            <a:ext cx="26416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accessModes: RWO / ROX / RWX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397000" y="5600700"/>
            <a:ext cx="26416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reclaimPolicy: Retain / Delete / Recycle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397000" y="6680200"/>
            <a:ext cx="26416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kubectl get pv ile PV listesi görüntülenir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397000" y="7454900"/>
            <a:ext cx="26416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kubectl get pvc ile PVC durumları kontrol edilir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5080000" y="2006600"/>
            <a:ext cx="26416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Dinamik provisioning ile dynamic volume oluşturma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5080000" y="3390900"/>
            <a:ext cx="26416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provisioner: aws-ebs, azure-disk, gce-pd gibi sağlayıcılar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5080000" y="4762500"/>
            <a:ext cx="26416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volumeBindingMode: Immediate veya WaitForFirstConsumer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5080000" y="6146800"/>
            <a:ext cx="26416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default storage class olarak atanmış sınıf önemli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763000" y="2006600"/>
            <a:ext cx="26416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Kubernetes paket yöneticisi olarak Helm kullanılır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763000" y="3086100"/>
            <a:ext cx="26416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chart-based deployment ile paketlenmiş uygulama dağıtımı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8763000" y="4457700"/>
            <a:ext cx="26416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helm install app chart komutuyla kurulum yapılır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8763000" y="5537200"/>
            <a:ext cx="26416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helm upgrade ile güncelleme, helm rollback ile geri alma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8763000" y="6921500"/>
            <a:ext cx="26416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helm repo add ile chart repository eklenir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2458700" y="2006600"/>
            <a:ext cx="26416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Container image build süreci Dockerfile ile yapılır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2458700" y="3086100"/>
            <a:ext cx="26416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Docker registry: Docker Hub veya private registry kullanımı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2458700" y="4457700"/>
            <a:ext cx="26416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private image için imagePullSecrets ile kimlik sağlanır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12458700" y="5537200"/>
            <a:ext cx="26416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container runtime örnekleri: containerd, CRI-O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1016000" y="24130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1016000" y="37973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1016000" y="48768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1016000" y="56515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1016000" y="67310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1016000" y="74930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4699000" y="20574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4699000" y="34290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4699000" y="48133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4699000" y="61976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3" name="TextBox 43"/>
          <p:cNvSpPr txBox="1"/>
          <p:nvPr/>
        </p:nvSpPr>
        <p:spPr>
          <a:xfrm>
            <a:off x="8394700" y="20574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4" name="TextBox 44"/>
          <p:cNvSpPr txBox="1"/>
          <p:nvPr/>
        </p:nvSpPr>
        <p:spPr>
          <a:xfrm>
            <a:off x="8394700" y="31242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5" name="TextBox 45"/>
          <p:cNvSpPr txBox="1"/>
          <p:nvPr/>
        </p:nvSpPr>
        <p:spPr>
          <a:xfrm>
            <a:off x="8394700" y="45085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6" name="TextBox 46"/>
          <p:cNvSpPr txBox="1"/>
          <p:nvPr/>
        </p:nvSpPr>
        <p:spPr>
          <a:xfrm>
            <a:off x="8394700" y="55880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8394700" y="69723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8" name="TextBox 48"/>
          <p:cNvSpPr txBox="1"/>
          <p:nvPr/>
        </p:nvSpPr>
        <p:spPr>
          <a:xfrm>
            <a:off x="12077700" y="20574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9" name="TextBox 49"/>
          <p:cNvSpPr txBox="1"/>
          <p:nvPr/>
        </p:nvSpPr>
        <p:spPr>
          <a:xfrm>
            <a:off x="12077700" y="31242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50" name="TextBox 50"/>
          <p:cNvSpPr txBox="1"/>
          <p:nvPr/>
        </p:nvSpPr>
        <p:spPr>
          <a:xfrm>
            <a:off x="12077700" y="45085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51" name="TextBox 51"/>
          <p:cNvSpPr txBox="1"/>
          <p:nvPr/>
        </p:nvSpPr>
        <p:spPr>
          <a:xfrm>
            <a:off x="12077700" y="55880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30850" b="3085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0F1FF">
              <a:alpha val="69804"/>
            </a:srgbClr>
          </a:solidFill>
        </p:spPr>
      </p:sp>
      <p:sp>
        <p:nvSpPr>
          <p:cNvPr id="6" name="TextBox 6"/>
          <p:cNvSpPr txBox="1"/>
          <p:nvPr/>
        </p:nvSpPr>
        <p:spPr>
          <a:xfrm>
            <a:off x="876300" y="3289300"/>
            <a:ext cx="144907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4900" b="1">
                <a:solidFill>
                  <a:srgbClr val="000000"/>
                </a:solidFill>
                <a:latin typeface="Poppins"/>
              </a:rPr>
              <a:t>Teşekkürler - Kubernetes Eğitimi Tamamlandı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876300" y="50800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27 temel konuyu tamamladık. Sorularınız için hazırım. Başarılı Kubernetes çalışmaları dilerim!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Özel</PresentationFormat>
  <Paragraphs>0</Paragraphs>
  <Slides>56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56</vt:i4>
      </vt:variant>
    </vt:vector>
  </HeadingPairs>
  <TitlesOfParts>
    <vt:vector size="57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63</cp:revision>
  <dcterms:created xsi:type="dcterms:W3CDTF">2006-08-16T00:00:00Z</dcterms:created>
  <dcterms:modified xsi:type="dcterms:W3CDTF">2026-02-09T21:36:10Z</dcterms:modified>
</cp:coreProperties>
</file>